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"/>
            <a:ext cx="12191390" cy="685763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390" y="0"/>
                </a:moveTo>
                <a:lnTo>
                  <a:pt x="0" y="0"/>
                </a:lnTo>
                <a:lnTo>
                  <a:pt x="0" y="6857631"/>
                </a:lnTo>
                <a:lnTo>
                  <a:pt x="6095873" y="6857631"/>
                </a:lnTo>
                <a:lnTo>
                  <a:pt x="12191390" y="6857631"/>
                </a:lnTo>
                <a:lnTo>
                  <a:pt x="12191390" y="0"/>
                </a:lnTo>
                <a:close/>
              </a:path>
            </a:pathLst>
          </a:custGeom>
          <a:solidFill>
            <a:srgbClr val="CCD9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19" y="1279791"/>
            <a:ext cx="4754524" cy="4023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46584" y="1601546"/>
            <a:ext cx="4515484" cy="1062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A20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A20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A20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A20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2"/>
            <a:ext cx="12191390" cy="685763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390" y="0"/>
                </a:moveTo>
                <a:lnTo>
                  <a:pt x="0" y="0"/>
                </a:lnTo>
                <a:lnTo>
                  <a:pt x="0" y="6857631"/>
                </a:lnTo>
                <a:lnTo>
                  <a:pt x="6095873" y="6857631"/>
                </a:lnTo>
                <a:lnTo>
                  <a:pt x="12191390" y="6857631"/>
                </a:lnTo>
                <a:lnTo>
                  <a:pt x="12191390" y="0"/>
                </a:lnTo>
                <a:close/>
              </a:path>
            </a:pathLst>
          </a:custGeom>
          <a:solidFill>
            <a:srgbClr val="CCD9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197" y="348830"/>
            <a:ext cx="10778401" cy="12528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31164" y="365759"/>
            <a:ext cx="10698480" cy="45720"/>
          </a:xfrm>
          <a:custGeom>
            <a:avLst/>
            <a:gdLst/>
            <a:ahLst/>
            <a:cxnLst/>
            <a:rect l="l" t="t" r="r" b="b"/>
            <a:pathLst>
              <a:path w="10698480" h="45720">
                <a:moveTo>
                  <a:pt x="10698111" y="0"/>
                </a:moveTo>
                <a:lnTo>
                  <a:pt x="0" y="0"/>
                </a:lnTo>
                <a:lnTo>
                  <a:pt x="0" y="45364"/>
                </a:lnTo>
                <a:lnTo>
                  <a:pt x="5349240" y="45364"/>
                </a:lnTo>
                <a:lnTo>
                  <a:pt x="10698111" y="45364"/>
                </a:lnTo>
                <a:lnTo>
                  <a:pt x="10698111" y="0"/>
                </a:lnTo>
                <a:close/>
              </a:path>
            </a:pathLst>
          </a:custGeom>
          <a:solidFill>
            <a:srgbClr val="1564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8824" y="808824"/>
            <a:ext cx="8505825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A20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021" y="1823401"/>
            <a:ext cx="10785475" cy="411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hmedqataria99/Lendora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github.com/ahmedqataria99/Lendora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6584" y="1403184"/>
            <a:ext cx="23291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FA266"/>
                </a:solidFill>
                <a:latin typeface="Calibri"/>
                <a:cs typeface="Calibri"/>
              </a:rPr>
              <a:t>NTI</a:t>
            </a:r>
            <a:r>
              <a:rPr dirty="0" sz="1300" spc="-3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FA266"/>
                </a:solidFill>
                <a:latin typeface="Calibri"/>
                <a:cs typeface="Calibri"/>
              </a:rPr>
              <a:t>MACHINE</a:t>
            </a:r>
            <a:r>
              <a:rPr dirty="0" sz="1300" spc="-30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FA266"/>
                </a:solidFill>
                <a:latin typeface="Calibri"/>
                <a:cs typeface="Calibri"/>
              </a:rPr>
              <a:t>LEARNING</a:t>
            </a:r>
            <a:r>
              <a:rPr dirty="0" sz="1300" spc="-2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5746584" y="1601546"/>
            <a:ext cx="4515485" cy="1062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3400" b="1">
                <a:solidFill>
                  <a:srgbClr val="0A2015"/>
                </a:solidFill>
                <a:latin typeface="Calibri"/>
                <a:cs typeface="Calibri"/>
              </a:rPr>
              <a:t>Loan</a:t>
            </a:r>
            <a:r>
              <a:rPr dirty="0" sz="3400" spc="-130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0A2015"/>
                </a:solidFill>
                <a:latin typeface="Calibri"/>
                <a:cs typeface="Calibri"/>
              </a:rPr>
              <a:t>Approval</a:t>
            </a:r>
            <a:r>
              <a:rPr dirty="0" sz="3400" spc="-114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0A2015"/>
                </a:solidFill>
                <a:latin typeface="Calibri"/>
                <a:cs typeface="Calibri"/>
              </a:rPr>
              <a:t>Prediction </a:t>
            </a:r>
            <a:r>
              <a:rPr dirty="0" sz="3400" b="1">
                <a:solidFill>
                  <a:srgbClr val="0A2015"/>
                </a:solidFill>
                <a:latin typeface="Calibri"/>
                <a:cs typeface="Calibri"/>
              </a:rPr>
              <a:t>Using</a:t>
            </a:r>
            <a:r>
              <a:rPr dirty="0" sz="3400" spc="-125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0A2015"/>
                </a:solidFill>
                <a:latin typeface="Calibri"/>
                <a:cs typeface="Calibri"/>
              </a:rPr>
              <a:t>Machine</a:t>
            </a:r>
            <a:r>
              <a:rPr dirty="0" sz="3400" spc="-120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0A2015"/>
                </a:solidFill>
                <a:latin typeface="Calibri"/>
                <a:cs typeface="Calibri"/>
              </a:rPr>
              <a:t>Learning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6584" y="2865145"/>
            <a:ext cx="535368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375746"/>
                </a:solidFill>
                <a:latin typeface="Calibri"/>
                <a:cs typeface="Calibri"/>
              </a:rPr>
              <a:t>End-</a:t>
            </a:r>
            <a:r>
              <a:rPr dirty="0" sz="1500" spc="-20">
                <a:solidFill>
                  <a:srgbClr val="375746"/>
                </a:solidFill>
                <a:latin typeface="Calibri"/>
                <a:cs typeface="Calibri"/>
              </a:rPr>
              <a:t>to-</a:t>
            </a:r>
            <a:r>
              <a:rPr dirty="0" sz="1500">
                <a:solidFill>
                  <a:srgbClr val="375746"/>
                </a:solidFill>
                <a:latin typeface="Calibri"/>
                <a:cs typeface="Calibri"/>
              </a:rPr>
              <a:t>End</a:t>
            </a:r>
            <a:r>
              <a:rPr dirty="0" sz="1500" spc="-5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75746"/>
                </a:solidFill>
                <a:latin typeface="Calibri"/>
                <a:cs typeface="Calibri"/>
              </a:rPr>
              <a:t>Classification</a:t>
            </a:r>
            <a:r>
              <a:rPr dirty="0" sz="1500">
                <a:solidFill>
                  <a:srgbClr val="375746"/>
                </a:solidFill>
                <a:latin typeface="Calibri"/>
                <a:cs typeface="Calibri"/>
              </a:rPr>
              <a:t> Pipeline</a:t>
            </a:r>
            <a:r>
              <a:rPr dirty="0" sz="1500" spc="-10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75746"/>
                </a:solidFill>
                <a:latin typeface="Calibri"/>
                <a:cs typeface="Calibri"/>
              </a:rPr>
              <a:t>with</a:t>
            </a:r>
            <a:r>
              <a:rPr dirty="0" sz="1500" spc="-5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75746"/>
                </a:solidFill>
                <a:latin typeface="Calibri"/>
                <a:cs typeface="Calibri"/>
              </a:rPr>
              <a:t>Hyperparameter</a:t>
            </a:r>
            <a:r>
              <a:rPr dirty="0" sz="1500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75746"/>
                </a:solidFill>
                <a:latin typeface="Calibri"/>
                <a:cs typeface="Calibri"/>
              </a:rPr>
              <a:t>Optimization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GitHub:</a:t>
            </a:r>
            <a:r>
              <a:rPr dirty="0" sz="1300" spc="-2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  <a:hlinkClick r:id="rId2"/>
              </a:rPr>
              <a:t>https://github.com/ahmedqataria99/Lendora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110"/>
              <a:t> </a:t>
            </a:r>
            <a:r>
              <a:rPr dirty="0" spc="-10"/>
              <a:t>Statement</a:t>
            </a:r>
            <a:r>
              <a:rPr dirty="0" spc="-100"/>
              <a:t> </a:t>
            </a:r>
            <a:r>
              <a:rPr dirty="0"/>
              <a:t>&amp;</a:t>
            </a:r>
            <a:r>
              <a:rPr dirty="0" spc="-100"/>
              <a:t> </a:t>
            </a:r>
            <a:r>
              <a:rPr dirty="0"/>
              <a:t>Project</a:t>
            </a:r>
            <a:r>
              <a:rPr dirty="0" spc="-95"/>
              <a:t> </a:t>
            </a:r>
            <a:r>
              <a:rPr dirty="0" spc="-10"/>
              <a:t>Objectives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397375"/>
            <a:chOff x="681481" y="1801787"/>
            <a:chExt cx="5220970" cy="4397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47" cy="4397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8035" y="3688737"/>
                  </a:lnTo>
                  <a:lnTo>
                    <a:pt x="17946" y="3741026"/>
                  </a:lnTo>
                  <a:lnTo>
                    <a:pt x="17995" y="3741287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7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089166" y="3792626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7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18705" y="2943974"/>
            <a:ext cx="4465320" cy="20662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683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Problem</a:t>
            </a:r>
            <a:r>
              <a:rPr dirty="0" sz="1800" spc="-6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marL="12700" marR="266700">
              <a:lnSpc>
                <a:spcPct val="100000"/>
              </a:lnSpc>
              <a:spcBef>
                <a:spcPts val="2160"/>
              </a:spcBef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Predict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whether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a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loan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application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approved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or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 rejected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from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applicant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data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—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key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financial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decision.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99800"/>
              </a:lnSpc>
              <a:spcBef>
                <a:spcPts val="1680"/>
              </a:spcBef>
            </a:pP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Manual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credit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checks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cause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major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approval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delays,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high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variance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in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reviewer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subjectivity,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exposure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default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risk. Intelligent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modeling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establishes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consistent,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data-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backed thresholds.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67882" y="1801787"/>
            <a:ext cx="5220335" cy="4397375"/>
            <a:chOff x="6167882" y="1801787"/>
            <a:chExt cx="5220335" cy="43973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004" cy="439705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17946" y="3741026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6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6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218B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905863" y="3019945"/>
            <a:ext cx="1740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Project</a:t>
            </a:r>
            <a:r>
              <a:rPr dirty="0" sz="1800" spc="-6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05105" y="3568585"/>
            <a:ext cx="4472305" cy="1365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0965">
              <a:lnSpc>
                <a:spcPct val="100000"/>
              </a:lnSpc>
              <a:spcBef>
                <a:spcPts val="100"/>
              </a:spcBef>
              <a:buChar char="•"/>
              <a:tabLst>
                <a:tab pos="113664" algn="l"/>
              </a:tabLst>
            </a:pP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BUILD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A</a:t>
            </a:r>
            <a:r>
              <a:rPr dirty="0" sz="11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MACHINE-LEARNING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CLASSIFICATION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SYSTEM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FOR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LOAN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APPROVAL PREDICTION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ts val="1320"/>
              </a:lnSpc>
              <a:buChar char="•"/>
              <a:tabLst>
                <a:tab pos="113664" algn="l"/>
              </a:tabLst>
            </a:pP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PREPROCESS</a:t>
            </a:r>
            <a:r>
              <a:rPr dirty="0" sz="11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NUMERICAL</a:t>
            </a:r>
            <a:r>
              <a:rPr dirty="0" sz="11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AND</a:t>
            </a:r>
            <a:r>
              <a:rPr dirty="0" sz="11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CATEGORICAL</a:t>
            </a:r>
            <a:r>
              <a:rPr dirty="0" sz="11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APPLICANT</a:t>
            </a:r>
            <a:r>
              <a:rPr dirty="0" sz="11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ct val="100000"/>
              </a:lnSpc>
              <a:buChar char="•"/>
              <a:tabLst>
                <a:tab pos="113664" algn="l"/>
              </a:tabLst>
            </a:pP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TRAIN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MULTIPLE CLASSIFICATION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ALGORITHMS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ct val="100000"/>
              </a:lnSpc>
              <a:buChar char="•"/>
              <a:tabLst>
                <a:tab pos="113664" algn="l"/>
              </a:tabLst>
            </a:pP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TUNE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MODELS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USING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GRIDSEARCHCV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ts val="1315"/>
              </a:lnSpc>
              <a:buChar char="•"/>
              <a:tabLst>
                <a:tab pos="113664" algn="l"/>
              </a:tabLst>
            </a:pP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COMPARE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MODELS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USING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A2015"/>
                </a:solidFill>
                <a:latin typeface="Calibri"/>
                <a:cs typeface="Calibri"/>
              </a:rPr>
              <a:t>EVALUATION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METRICS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ts val="1315"/>
              </a:lnSpc>
              <a:buChar char="•"/>
              <a:tabLst>
                <a:tab pos="113664" algn="l"/>
              </a:tabLst>
            </a:pP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SELECT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A2015"/>
                </a:solidFill>
                <a:latin typeface="Calibri"/>
                <a:cs typeface="Calibri"/>
              </a:rPr>
              <a:t>BEST-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PERFORMING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ct val="100000"/>
              </a:lnSpc>
              <a:buChar char="•"/>
              <a:tabLst>
                <a:tab pos="113664" algn="l"/>
              </a:tabLst>
            </a:pP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PREPARE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BEST</a:t>
            </a:r>
            <a:r>
              <a:rPr dirty="0" sz="11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MODEL</a:t>
            </a:r>
            <a:r>
              <a:rPr dirty="0" sz="11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A2015"/>
                </a:solidFill>
                <a:latin typeface="Calibri"/>
                <a:cs typeface="Calibri"/>
              </a:rPr>
              <a:t>FOR</a:t>
            </a:r>
            <a:r>
              <a:rPr dirty="0" sz="1100" spc="-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A2015"/>
                </a:solidFill>
                <a:latin typeface="Calibri"/>
                <a:cs typeface="Calibri"/>
              </a:rPr>
              <a:t>DEPLOYMENT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8824" y="489140"/>
            <a:ext cx="3842385" cy="741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4079"/>
              </a:lnSpc>
              <a:spcBef>
                <a:spcPts val="95"/>
              </a:spcBef>
            </a:pPr>
            <a:r>
              <a:rPr dirty="0" sz="3400"/>
              <a:t>Dataset</a:t>
            </a:r>
            <a:r>
              <a:rPr dirty="0" sz="3400" spc="-175"/>
              <a:t> </a:t>
            </a:r>
            <a:r>
              <a:rPr dirty="0" sz="3400" spc="-10"/>
              <a:t>Overview</a:t>
            </a:r>
            <a:endParaRPr sz="3400"/>
          </a:p>
          <a:p>
            <a:pPr marL="12700">
              <a:lnSpc>
                <a:spcPct val="100000"/>
              </a:lnSpc>
            </a:pPr>
            <a:r>
              <a:rPr dirty="0" sz="1300" spc="-25">
                <a:solidFill>
                  <a:srgbClr val="156433"/>
                </a:solidFill>
              </a:rPr>
              <a:t>LOAN_DATA_NEW.CSV</a:t>
            </a:r>
            <a:r>
              <a:rPr dirty="0" sz="1300" spc="235">
                <a:solidFill>
                  <a:srgbClr val="156433"/>
                </a:solidFill>
              </a:rPr>
              <a:t> </a:t>
            </a:r>
            <a:r>
              <a:rPr dirty="0" sz="1300">
                <a:solidFill>
                  <a:srgbClr val="156433"/>
                </a:solidFill>
              </a:rPr>
              <a:t>•</a:t>
            </a:r>
            <a:r>
              <a:rPr dirty="0" sz="1300" spc="250">
                <a:solidFill>
                  <a:srgbClr val="156433"/>
                </a:solidFill>
              </a:rPr>
              <a:t> </a:t>
            </a:r>
            <a:r>
              <a:rPr dirty="0" sz="1300">
                <a:solidFill>
                  <a:srgbClr val="156433"/>
                </a:solidFill>
              </a:rPr>
              <a:t>45,000</a:t>
            </a:r>
            <a:r>
              <a:rPr dirty="0" sz="1300" spc="-30">
                <a:solidFill>
                  <a:srgbClr val="156433"/>
                </a:solidFill>
              </a:rPr>
              <a:t> </a:t>
            </a:r>
            <a:r>
              <a:rPr dirty="0" sz="1300">
                <a:solidFill>
                  <a:srgbClr val="156433"/>
                </a:solidFill>
              </a:rPr>
              <a:t>ROWS</a:t>
            </a:r>
            <a:r>
              <a:rPr dirty="0" sz="1300" spc="245">
                <a:solidFill>
                  <a:srgbClr val="156433"/>
                </a:solidFill>
              </a:rPr>
              <a:t> </a:t>
            </a:r>
            <a:r>
              <a:rPr dirty="0" sz="1300">
                <a:solidFill>
                  <a:srgbClr val="156433"/>
                </a:solidFill>
              </a:rPr>
              <a:t>•</a:t>
            </a:r>
            <a:r>
              <a:rPr dirty="0" sz="1300" spc="235">
                <a:solidFill>
                  <a:srgbClr val="156433"/>
                </a:solidFill>
              </a:rPr>
              <a:t> </a:t>
            </a:r>
            <a:r>
              <a:rPr dirty="0" sz="1300">
                <a:solidFill>
                  <a:srgbClr val="156433"/>
                </a:solidFill>
              </a:rPr>
              <a:t>14</a:t>
            </a:r>
            <a:r>
              <a:rPr dirty="0" sz="1300" spc="-25">
                <a:solidFill>
                  <a:srgbClr val="156433"/>
                </a:solidFill>
              </a:rPr>
              <a:t> </a:t>
            </a:r>
            <a:r>
              <a:rPr dirty="0" sz="1300" spc="-10">
                <a:solidFill>
                  <a:srgbClr val="156433"/>
                </a:solidFill>
              </a:rPr>
              <a:t>COLUMNS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4698471" y="1006817"/>
            <a:ext cx="38576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9545" indent="-156845">
              <a:lnSpc>
                <a:spcPct val="100000"/>
              </a:lnSpc>
              <a:spcBef>
                <a:spcPts val="100"/>
              </a:spcBef>
              <a:buChar char="•"/>
              <a:tabLst>
                <a:tab pos="169545" algn="l"/>
              </a:tabLst>
            </a:pPr>
            <a:r>
              <a:rPr dirty="0" sz="1300" spc="-25" b="1">
                <a:solidFill>
                  <a:srgbClr val="156433"/>
                </a:solidFill>
                <a:latin typeface="Calibri"/>
                <a:cs typeface="Calibri"/>
              </a:rPr>
              <a:t>TARGET: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30" b="1">
                <a:solidFill>
                  <a:srgbClr val="156433"/>
                </a:solidFill>
                <a:latin typeface="Calibri"/>
                <a:cs typeface="Calibri"/>
              </a:rPr>
              <a:t>LOAN_STATUS</a:t>
            </a:r>
            <a:r>
              <a:rPr dirty="0" sz="1300" spc="-1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(0</a:t>
            </a:r>
            <a:r>
              <a:rPr dirty="0" sz="1300" spc="-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=</a:t>
            </a:r>
            <a:r>
              <a:rPr dirty="0" sz="1300" spc="-2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REJECTED,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 1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=</a:t>
            </a:r>
            <a:r>
              <a:rPr dirty="0" sz="1300" spc="-1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APPROVED)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488815"/>
            <a:chOff x="681481" y="1801787"/>
            <a:chExt cx="5220970" cy="44888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60" cy="44884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164" y="1828444"/>
              <a:ext cx="5120640" cy="4389120"/>
            </a:xfrm>
            <a:custGeom>
              <a:avLst/>
              <a:gdLst/>
              <a:ahLst/>
              <a:cxnLst/>
              <a:rect l="l" t="t" r="r" b="b"/>
              <a:pathLst>
                <a:path w="5120640" h="4389120">
                  <a:moveTo>
                    <a:pt x="4388751" y="0"/>
                  </a:moveTo>
                  <a:lnTo>
                    <a:pt x="731519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7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20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6287" y="3753322"/>
                  </a:lnTo>
                  <a:lnTo>
                    <a:pt x="14024" y="3800110"/>
                  </a:lnTo>
                  <a:lnTo>
                    <a:pt x="14084" y="3800472"/>
                  </a:lnTo>
                  <a:lnTo>
                    <a:pt x="24842" y="3846593"/>
                  </a:lnTo>
                  <a:lnTo>
                    <a:pt x="24926" y="3846957"/>
                  </a:lnTo>
                  <a:lnTo>
                    <a:pt x="38662" y="3892266"/>
                  </a:lnTo>
                  <a:lnTo>
                    <a:pt x="38773" y="3892631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6" y="4023360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19" y="4389120"/>
                  </a:lnTo>
                  <a:lnTo>
                    <a:pt x="4389120" y="4388751"/>
                  </a:lnTo>
                  <a:lnTo>
                    <a:pt x="4437170" y="4387172"/>
                  </a:lnTo>
                  <a:lnTo>
                    <a:pt x="4484842" y="4382464"/>
                  </a:lnTo>
                  <a:lnTo>
                    <a:pt x="4531992" y="4374667"/>
                  </a:lnTo>
                  <a:lnTo>
                    <a:pt x="4578477" y="4363824"/>
                  </a:lnTo>
                  <a:lnTo>
                    <a:pt x="4624151" y="4349978"/>
                  </a:lnTo>
                  <a:lnTo>
                    <a:pt x="4668872" y="4333169"/>
                  </a:lnTo>
                  <a:lnTo>
                    <a:pt x="4712496" y="4313441"/>
                  </a:lnTo>
                  <a:lnTo>
                    <a:pt x="4754880" y="4290834"/>
                  </a:lnTo>
                  <a:lnTo>
                    <a:pt x="4795683" y="4265387"/>
                  </a:lnTo>
                  <a:lnTo>
                    <a:pt x="4834595" y="4237441"/>
                  </a:lnTo>
                  <a:lnTo>
                    <a:pt x="4871516" y="4207099"/>
                  </a:lnTo>
                  <a:lnTo>
                    <a:pt x="4906344" y="4174463"/>
                  </a:lnTo>
                  <a:lnTo>
                    <a:pt x="4938979" y="4139632"/>
                  </a:lnTo>
                  <a:lnTo>
                    <a:pt x="4969319" y="4102709"/>
                  </a:lnTo>
                  <a:lnTo>
                    <a:pt x="4997263" y="4063795"/>
                  </a:lnTo>
                  <a:lnTo>
                    <a:pt x="5022710" y="4022991"/>
                  </a:lnTo>
                  <a:lnTo>
                    <a:pt x="5045317" y="3980609"/>
                  </a:lnTo>
                  <a:lnTo>
                    <a:pt x="5065047" y="3936986"/>
                  </a:lnTo>
                  <a:lnTo>
                    <a:pt x="5081857" y="3892266"/>
                  </a:lnTo>
                  <a:lnTo>
                    <a:pt x="5095596" y="3846957"/>
                  </a:lnTo>
                  <a:lnTo>
                    <a:pt x="5095706" y="3846593"/>
                  </a:lnTo>
                  <a:lnTo>
                    <a:pt x="5106467" y="3800472"/>
                  </a:lnTo>
                  <a:lnTo>
                    <a:pt x="5106551" y="3800110"/>
                  </a:lnTo>
                  <a:lnTo>
                    <a:pt x="5114290" y="3753322"/>
                  </a:lnTo>
                  <a:lnTo>
                    <a:pt x="5114350" y="3752959"/>
                  </a:lnTo>
                  <a:lnTo>
                    <a:pt x="5119024" y="3705650"/>
                  </a:lnTo>
                  <a:lnTo>
                    <a:pt x="5119060" y="3705285"/>
                  </a:lnTo>
                  <a:lnTo>
                    <a:pt x="5120627" y="3657600"/>
                  </a:lnTo>
                  <a:lnTo>
                    <a:pt x="5120271" y="731520"/>
                  </a:lnTo>
                  <a:lnTo>
                    <a:pt x="5118692" y="683465"/>
                  </a:lnTo>
                  <a:lnTo>
                    <a:pt x="5113984" y="635791"/>
                  </a:lnTo>
                  <a:lnTo>
                    <a:pt x="5106187" y="588641"/>
                  </a:lnTo>
                  <a:lnTo>
                    <a:pt x="5095344" y="542158"/>
                  </a:lnTo>
                  <a:lnTo>
                    <a:pt x="5081498" y="496485"/>
                  </a:lnTo>
                  <a:lnTo>
                    <a:pt x="5064689" y="451765"/>
                  </a:lnTo>
                  <a:lnTo>
                    <a:pt x="5044961" y="408142"/>
                  </a:lnTo>
                  <a:lnTo>
                    <a:pt x="5022354" y="365760"/>
                  </a:lnTo>
                  <a:lnTo>
                    <a:pt x="4996907" y="324956"/>
                  </a:lnTo>
                  <a:lnTo>
                    <a:pt x="4968961" y="286042"/>
                  </a:lnTo>
                  <a:lnTo>
                    <a:pt x="4938619" y="249119"/>
                  </a:lnTo>
                  <a:lnTo>
                    <a:pt x="4905983" y="214288"/>
                  </a:lnTo>
                  <a:lnTo>
                    <a:pt x="4871152" y="181651"/>
                  </a:lnTo>
                  <a:lnTo>
                    <a:pt x="4834229" y="151309"/>
                  </a:lnTo>
                  <a:lnTo>
                    <a:pt x="4795315" y="123364"/>
                  </a:lnTo>
                  <a:lnTo>
                    <a:pt x="4754511" y="97917"/>
                  </a:lnTo>
                  <a:lnTo>
                    <a:pt x="4712129" y="75310"/>
                  </a:lnTo>
                  <a:lnTo>
                    <a:pt x="4668506" y="55581"/>
                  </a:lnTo>
                  <a:lnTo>
                    <a:pt x="4623786" y="38773"/>
                  </a:lnTo>
                  <a:lnTo>
                    <a:pt x="4578113" y="24926"/>
                  </a:lnTo>
                  <a:lnTo>
                    <a:pt x="4531630" y="14084"/>
                  </a:lnTo>
                  <a:lnTo>
                    <a:pt x="4484479" y="6287"/>
                  </a:lnTo>
                  <a:lnTo>
                    <a:pt x="4436805" y="1578"/>
                  </a:lnTo>
                  <a:lnTo>
                    <a:pt x="4388751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164" y="1828444"/>
              <a:ext cx="5120640" cy="4389120"/>
            </a:xfrm>
            <a:custGeom>
              <a:avLst/>
              <a:gdLst/>
              <a:ahLst/>
              <a:cxnLst/>
              <a:rect l="l" t="t" r="r" b="b"/>
              <a:pathLst>
                <a:path w="5120640" h="4389120">
                  <a:moveTo>
                    <a:pt x="0" y="731520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7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19" y="0"/>
                  </a:lnTo>
                  <a:lnTo>
                    <a:pt x="4388751" y="0"/>
                  </a:lnTo>
                  <a:lnTo>
                    <a:pt x="4436805" y="1578"/>
                  </a:lnTo>
                  <a:lnTo>
                    <a:pt x="4484479" y="6287"/>
                  </a:lnTo>
                  <a:lnTo>
                    <a:pt x="4531630" y="14084"/>
                  </a:lnTo>
                  <a:lnTo>
                    <a:pt x="4578113" y="24926"/>
                  </a:lnTo>
                  <a:lnTo>
                    <a:pt x="4623786" y="38773"/>
                  </a:lnTo>
                  <a:lnTo>
                    <a:pt x="4668506" y="55581"/>
                  </a:lnTo>
                  <a:lnTo>
                    <a:pt x="4712129" y="75310"/>
                  </a:lnTo>
                  <a:lnTo>
                    <a:pt x="4754511" y="97917"/>
                  </a:lnTo>
                  <a:lnTo>
                    <a:pt x="4795315" y="123364"/>
                  </a:lnTo>
                  <a:lnTo>
                    <a:pt x="4834229" y="151309"/>
                  </a:lnTo>
                  <a:lnTo>
                    <a:pt x="4871152" y="181651"/>
                  </a:lnTo>
                  <a:lnTo>
                    <a:pt x="4905983" y="214288"/>
                  </a:lnTo>
                  <a:lnTo>
                    <a:pt x="4938619" y="249119"/>
                  </a:lnTo>
                  <a:lnTo>
                    <a:pt x="4968961" y="286042"/>
                  </a:lnTo>
                  <a:lnTo>
                    <a:pt x="4996907" y="324956"/>
                  </a:lnTo>
                  <a:lnTo>
                    <a:pt x="5022354" y="365760"/>
                  </a:lnTo>
                  <a:lnTo>
                    <a:pt x="5044961" y="408142"/>
                  </a:lnTo>
                  <a:lnTo>
                    <a:pt x="5064689" y="451765"/>
                  </a:lnTo>
                  <a:lnTo>
                    <a:pt x="5081498" y="496485"/>
                  </a:lnTo>
                  <a:lnTo>
                    <a:pt x="5095344" y="542158"/>
                  </a:lnTo>
                  <a:lnTo>
                    <a:pt x="5106187" y="588641"/>
                  </a:lnTo>
                  <a:lnTo>
                    <a:pt x="5113984" y="635791"/>
                  </a:lnTo>
                  <a:lnTo>
                    <a:pt x="5118692" y="683465"/>
                  </a:lnTo>
                  <a:lnTo>
                    <a:pt x="5120271" y="731520"/>
                  </a:lnTo>
                  <a:lnTo>
                    <a:pt x="5120640" y="3657231"/>
                  </a:lnTo>
                  <a:lnTo>
                    <a:pt x="5119060" y="3705285"/>
                  </a:lnTo>
                  <a:lnTo>
                    <a:pt x="5114350" y="3752959"/>
                  </a:lnTo>
                  <a:lnTo>
                    <a:pt x="5106551" y="3800110"/>
                  </a:lnTo>
                  <a:lnTo>
                    <a:pt x="5095706" y="3846593"/>
                  </a:lnTo>
                  <a:lnTo>
                    <a:pt x="5081857" y="3892266"/>
                  </a:lnTo>
                  <a:lnTo>
                    <a:pt x="5065047" y="3936986"/>
                  </a:lnTo>
                  <a:lnTo>
                    <a:pt x="5045317" y="3980609"/>
                  </a:lnTo>
                  <a:lnTo>
                    <a:pt x="5022710" y="4022991"/>
                  </a:lnTo>
                  <a:lnTo>
                    <a:pt x="4997263" y="4063795"/>
                  </a:lnTo>
                  <a:lnTo>
                    <a:pt x="4969319" y="4102709"/>
                  </a:lnTo>
                  <a:lnTo>
                    <a:pt x="4938979" y="4139632"/>
                  </a:lnTo>
                  <a:lnTo>
                    <a:pt x="4906344" y="4174463"/>
                  </a:lnTo>
                  <a:lnTo>
                    <a:pt x="4871516" y="4207099"/>
                  </a:lnTo>
                  <a:lnTo>
                    <a:pt x="4834595" y="4237441"/>
                  </a:lnTo>
                  <a:lnTo>
                    <a:pt x="4795683" y="4265387"/>
                  </a:lnTo>
                  <a:lnTo>
                    <a:pt x="4754880" y="4290834"/>
                  </a:lnTo>
                  <a:lnTo>
                    <a:pt x="4712496" y="4313441"/>
                  </a:lnTo>
                  <a:lnTo>
                    <a:pt x="4668872" y="4333169"/>
                  </a:lnTo>
                  <a:lnTo>
                    <a:pt x="4624151" y="4349978"/>
                  </a:lnTo>
                  <a:lnTo>
                    <a:pt x="4578477" y="4363824"/>
                  </a:lnTo>
                  <a:lnTo>
                    <a:pt x="4531992" y="4374667"/>
                  </a:lnTo>
                  <a:lnTo>
                    <a:pt x="4484842" y="4382464"/>
                  </a:lnTo>
                  <a:lnTo>
                    <a:pt x="4437170" y="4387172"/>
                  </a:lnTo>
                  <a:lnTo>
                    <a:pt x="4389120" y="4388751"/>
                  </a:lnTo>
                  <a:lnTo>
                    <a:pt x="731519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60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7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20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080336" y="2853613"/>
            <a:ext cx="2419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56433"/>
                </a:solidFill>
                <a:latin typeface="Calibri"/>
                <a:cs typeface="Calibri"/>
              </a:rPr>
              <a:t>Numerical</a:t>
            </a:r>
            <a:r>
              <a:rPr dirty="0" sz="2000" spc="-6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56433"/>
                </a:solidFill>
                <a:latin typeface="Calibri"/>
                <a:cs typeface="Calibri"/>
              </a:rPr>
              <a:t>Features</a:t>
            </a:r>
            <a:r>
              <a:rPr dirty="0" sz="2000" spc="-6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156433"/>
                </a:solidFill>
                <a:latin typeface="Calibri"/>
                <a:cs typeface="Calibri"/>
              </a:rPr>
              <a:t>(8)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2299" y="3463099"/>
            <a:ext cx="1772920" cy="173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7359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375746"/>
                </a:solidFill>
                <a:latin typeface="Calibri"/>
                <a:cs typeface="Calibri"/>
              </a:rPr>
              <a:t>AGE </a:t>
            </a:r>
            <a:r>
              <a:rPr dirty="0" sz="1400" spc="-10">
                <a:solidFill>
                  <a:srgbClr val="375746"/>
                </a:solidFill>
                <a:latin typeface="Calibri"/>
                <a:cs typeface="Calibri"/>
              </a:rPr>
              <a:t>PERSON_INCOME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80"/>
              </a:lnSpc>
              <a:spcBef>
                <a:spcPts val="45"/>
              </a:spcBef>
            </a:pPr>
            <a:r>
              <a:rPr dirty="0" sz="1400" spc="-10">
                <a:solidFill>
                  <a:srgbClr val="375746"/>
                </a:solidFill>
                <a:latin typeface="Calibri"/>
                <a:cs typeface="Calibri"/>
              </a:rPr>
              <a:t>EMPLOYEE_EXPERIENCE LOAN_AMOUNT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25"/>
              </a:lnSpc>
            </a:pPr>
            <a:r>
              <a:rPr dirty="0" sz="1400" spc="-10">
                <a:solidFill>
                  <a:srgbClr val="375746"/>
                </a:solidFill>
                <a:latin typeface="Calibri"/>
                <a:cs typeface="Calibri"/>
              </a:rPr>
              <a:t>LOAN_INTEREST_RATE</a:t>
            </a:r>
            <a:endParaRPr sz="1400">
              <a:latin typeface="Calibri"/>
              <a:cs typeface="Calibri"/>
            </a:endParaRPr>
          </a:p>
          <a:p>
            <a:pPr marL="12700" marR="311785">
              <a:lnSpc>
                <a:spcPct val="99700"/>
              </a:lnSpc>
              <a:spcBef>
                <a:spcPts val="5"/>
              </a:spcBef>
            </a:pPr>
            <a:r>
              <a:rPr dirty="0" sz="1400" spc="-20">
                <a:solidFill>
                  <a:srgbClr val="375746"/>
                </a:solidFill>
                <a:latin typeface="Calibri"/>
                <a:cs typeface="Calibri"/>
              </a:rPr>
              <a:t>LOAN_PERCENTAGE </a:t>
            </a:r>
            <a:r>
              <a:rPr dirty="0" sz="1400" spc="-10">
                <a:solidFill>
                  <a:srgbClr val="375746"/>
                </a:solidFill>
                <a:latin typeface="Calibri"/>
                <a:cs typeface="Calibri"/>
              </a:rPr>
              <a:t>CREDIT_HISTORY CREDIT_SCORE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67882" y="1801787"/>
            <a:ext cx="5220970" cy="4488815"/>
            <a:chOff x="6167882" y="1801787"/>
            <a:chExt cx="5220970" cy="44888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360" cy="448849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17564" y="1828444"/>
              <a:ext cx="5120640" cy="4389120"/>
            </a:xfrm>
            <a:custGeom>
              <a:avLst/>
              <a:gdLst/>
              <a:ahLst/>
              <a:cxnLst/>
              <a:rect l="l" t="t" r="r" b="b"/>
              <a:pathLst>
                <a:path w="5120640" h="4389120">
                  <a:moveTo>
                    <a:pt x="4388751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7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20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7"/>
                  </a:lnTo>
                  <a:lnTo>
                    <a:pt x="38662" y="3892266"/>
                  </a:lnTo>
                  <a:lnTo>
                    <a:pt x="38773" y="3892631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6" y="4023360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389120" y="4388751"/>
                  </a:lnTo>
                  <a:lnTo>
                    <a:pt x="4437170" y="4387172"/>
                  </a:lnTo>
                  <a:lnTo>
                    <a:pt x="4484842" y="4382464"/>
                  </a:lnTo>
                  <a:lnTo>
                    <a:pt x="4531992" y="4374667"/>
                  </a:lnTo>
                  <a:lnTo>
                    <a:pt x="4578477" y="4363824"/>
                  </a:lnTo>
                  <a:lnTo>
                    <a:pt x="4624151" y="4349978"/>
                  </a:lnTo>
                  <a:lnTo>
                    <a:pt x="4668872" y="4333169"/>
                  </a:lnTo>
                  <a:lnTo>
                    <a:pt x="4712496" y="4313441"/>
                  </a:lnTo>
                  <a:lnTo>
                    <a:pt x="4754880" y="4290834"/>
                  </a:lnTo>
                  <a:lnTo>
                    <a:pt x="4795683" y="4265387"/>
                  </a:lnTo>
                  <a:lnTo>
                    <a:pt x="4834595" y="4237441"/>
                  </a:lnTo>
                  <a:lnTo>
                    <a:pt x="4871516" y="4207099"/>
                  </a:lnTo>
                  <a:lnTo>
                    <a:pt x="4906344" y="4174463"/>
                  </a:lnTo>
                  <a:lnTo>
                    <a:pt x="4938979" y="4139632"/>
                  </a:lnTo>
                  <a:lnTo>
                    <a:pt x="4969319" y="4102709"/>
                  </a:lnTo>
                  <a:lnTo>
                    <a:pt x="4997263" y="4063795"/>
                  </a:lnTo>
                  <a:lnTo>
                    <a:pt x="5022710" y="4022991"/>
                  </a:lnTo>
                  <a:lnTo>
                    <a:pt x="5045317" y="3980609"/>
                  </a:lnTo>
                  <a:lnTo>
                    <a:pt x="5065047" y="3936986"/>
                  </a:lnTo>
                  <a:lnTo>
                    <a:pt x="5081857" y="3892266"/>
                  </a:lnTo>
                  <a:lnTo>
                    <a:pt x="5095596" y="3846957"/>
                  </a:lnTo>
                  <a:lnTo>
                    <a:pt x="5106467" y="3800472"/>
                  </a:lnTo>
                  <a:lnTo>
                    <a:pt x="5106551" y="3800110"/>
                  </a:lnTo>
                  <a:lnTo>
                    <a:pt x="5114290" y="3753322"/>
                  </a:lnTo>
                  <a:lnTo>
                    <a:pt x="5114350" y="3752959"/>
                  </a:lnTo>
                  <a:lnTo>
                    <a:pt x="5119024" y="3705650"/>
                  </a:lnTo>
                  <a:lnTo>
                    <a:pt x="5119060" y="3705285"/>
                  </a:lnTo>
                  <a:lnTo>
                    <a:pt x="5120627" y="3657600"/>
                  </a:lnTo>
                  <a:lnTo>
                    <a:pt x="5120271" y="731520"/>
                  </a:lnTo>
                  <a:lnTo>
                    <a:pt x="5118692" y="683465"/>
                  </a:lnTo>
                  <a:lnTo>
                    <a:pt x="5113984" y="635791"/>
                  </a:lnTo>
                  <a:lnTo>
                    <a:pt x="5106187" y="588641"/>
                  </a:lnTo>
                  <a:lnTo>
                    <a:pt x="5095344" y="542158"/>
                  </a:lnTo>
                  <a:lnTo>
                    <a:pt x="5081498" y="496485"/>
                  </a:lnTo>
                  <a:lnTo>
                    <a:pt x="5064689" y="451765"/>
                  </a:lnTo>
                  <a:lnTo>
                    <a:pt x="5044961" y="408142"/>
                  </a:lnTo>
                  <a:lnTo>
                    <a:pt x="5022354" y="365760"/>
                  </a:lnTo>
                  <a:lnTo>
                    <a:pt x="4996907" y="324956"/>
                  </a:lnTo>
                  <a:lnTo>
                    <a:pt x="4968961" y="286042"/>
                  </a:lnTo>
                  <a:lnTo>
                    <a:pt x="4938619" y="249119"/>
                  </a:lnTo>
                  <a:lnTo>
                    <a:pt x="4905983" y="214288"/>
                  </a:lnTo>
                  <a:lnTo>
                    <a:pt x="4871152" y="181651"/>
                  </a:lnTo>
                  <a:lnTo>
                    <a:pt x="4834229" y="151309"/>
                  </a:lnTo>
                  <a:lnTo>
                    <a:pt x="4795315" y="123364"/>
                  </a:lnTo>
                  <a:lnTo>
                    <a:pt x="4754511" y="97917"/>
                  </a:lnTo>
                  <a:lnTo>
                    <a:pt x="4712129" y="75310"/>
                  </a:lnTo>
                  <a:lnTo>
                    <a:pt x="4668506" y="55581"/>
                  </a:lnTo>
                  <a:lnTo>
                    <a:pt x="4623786" y="38773"/>
                  </a:lnTo>
                  <a:lnTo>
                    <a:pt x="4578113" y="24926"/>
                  </a:lnTo>
                  <a:lnTo>
                    <a:pt x="4531630" y="14084"/>
                  </a:lnTo>
                  <a:lnTo>
                    <a:pt x="4484479" y="6287"/>
                  </a:lnTo>
                  <a:lnTo>
                    <a:pt x="4436805" y="1578"/>
                  </a:lnTo>
                  <a:lnTo>
                    <a:pt x="438875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17564" y="1828444"/>
              <a:ext cx="5120640" cy="4389120"/>
            </a:xfrm>
            <a:custGeom>
              <a:avLst/>
              <a:gdLst/>
              <a:ahLst/>
              <a:cxnLst/>
              <a:rect l="l" t="t" r="r" b="b"/>
              <a:pathLst>
                <a:path w="5120640" h="4389120">
                  <a:moveTo>
                    <a:pt x="0" y="731520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7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388751" y="0"/>
                  </a:lnTo>
                  <a:lnTo>
                    <a:pt x="4436805" y="1578"/>
                  </a:lnTo>
                  <a:lnTo>
                    <a:pt x="4484479" y="6287"/>
                  </a:lnTo>
                  <a:lnTo>
                    <a:pt x="4531630" y="14084"/>
                  </a:lnTo>
                  <a:lnTo>
                    <a:pt x="4578113" y="24926"/>
                  </a:lnTo>
                  <a:lnTo>
                    <a:pt x="4623786" y="38773"/>
                  </a:lnTo>
                  <a:lnTo>
                    <a:pt x="4668506" y="55581"/>
                  </a:lnTo>
                  <a:lnTo>
                    <a:pt x="4712129" y="75310"/>
                  </a:lnTo>
                  <a:lnTo>
                    <a:pt x="4754511" y="97917"/>
                  </a:lnTo>
                  <a:lnTo>
                    <a:pt x="4795315" y="123364"/>
                  </a:lnTo>
                  <a:lnTo>
                    <a:pt x="4834229" y="151309"/>
                  </a:lnTo>
                  <a:lnTo>
                    <a:pt x="4871152" y="181651"/>
                  </a:lnTo>
                  <a:lnTo>
                    <a:pt x="4905983" y="214288"/>
                  </a:lnTo>
                  <a:lnTo>
                    <a:pt x="4938619" y="249119"/>
                  </a:lnTo>
                  <a:lnTo>
                    <a:pt x="4968961" y="286042"/>
                  </a:lnTo>
                  <a:lnTo>
                    <a:pt x="4996907" y="324956"/>
                  </a:lnTo>
                  <a:lnTo>
                    <a:pt x="5022354" y="365760"/>
                  </a:lnTo>
                  <a:lnTo>
                    <a:pt x="5044961" y="408142"/>
                  </a:lnTo>
                  <a:lnTo>
                    <a:pt x="5064689" y="451765"/>
                  </a:lnTo>
                  <a:lnTo>
                    <a:pt x="5081498" y="496485"/>
                  </a:lnTo>
                  <a:lnTo>
                    <a:pt x="5095344" y="542158"/>
                  </a:lnTo>
                  <a:lnTo>
                    <a:pt x="5106187" y="588641"/>
                  </a:lnTo>
                  <a:lnTo>
                    <a:pt x="5113984" y="635791"/>
                  </a:lnTo>
                  <a:lnTo>
                    <a:pt x="5118692" y="683465"/>
                  </a:lnTo>
                  <a:lnTo>
                    <a:pt x="5120271" y="731520"/>
                  </a:lnTo>
                  <a:lnTo>
                    <a:pt x="5120640" y="3657231"/>
                  </a:lnTo>
                  <a:lnTo>
                    <a:pt x="5119060" y="3705285"/>
                  </a:lnTo>
                  <a:lnTo>
                    <a:pt x="5114350" y="3752959"/>
                  </a:lnTo>
                  <a:lnTo>
                    <a:pt x="5106551" y="3800110"/>
                  </a:lnTo>
                  <a:lnTo>
                    <a:pt x="5095706" y="3846593"/>
                  </a:lnTo>
                  <a:lnTo>
                    <a:pt x="5081857" y="3892266"/>
                  </a:lnTo>
                  <a:lnTo>
                    <a:pt x="5065047" y="3936986"/>
                  </a:lnTo>
                  <a:lnTo>
                    <a:pt x="5045317" y="3980609"/>
                  </a:lnTo>
                  <a:lnTo>
                    <a:pt x="5022710" y="4022991"/>
                  </a:lnTo>
                  <a:lnTo>
                    <a:pt x="4997263" y="4063795"/>
                  </a:lnTo>
                  <a:lnTo>
                    <a:pt x="4969319" y="4102709"/>
                  </a:lnTo>
                  <a:lnTo>
                    <a:pt x="4938979" y="4139632"/>
                  </a:lnTo>
                  <a:lnTo>
                    <a:pt x="4906344" y="4174463"/>
                  </a:lnTo>
                  <a:lnTo>
                    <a:pt x="4871516" y="4207099"/>
                  </a:lnTo>
                  <a:lnTo>
                    <a:pt x="4834595" y="4237441"/>
                  </a:lnTo>
                  <a:lnTo>
                    <a:pt x="4795683" y="4265387"/>
                  </a:lnTo>
                  <a:lnTo>
                    <a:pt x="4754880" y="4290834"/>
                  </a:lnTo>
                  <a:lnTo>
                    <a:pt x="4712496" y="4313441"/>
                  </a:lnTo>
                  <a:lnTo>
                    <a:pt x="4668872" y="4333169"/>
                  </a:lnTo>
                  <a:lnTo>
                    <a:pt x="4624151" y="4349978"/>
                  </a:lnTo>
                  <a:lnTo>
                    <a:pt x="4578477" y="4363824"/>
                  </a:lnTo>
                  <a:lnTo>
                    <a:pt x="4531992" y="4374667"/>
                  </a:lnTo>
                  <a:lnTo>
                    <a:pt x="4484842" y="4382464"/>
                  </a:lnTo>
                  <a:lnTo>
                    <a:pt x="4437170" y="4387172"/>
                  </a:lnTo>
                  <a:lnTo>
                    <a:pt x="438912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60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7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20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523543" y="3172218"/>
            <a:ext cx="25076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0FA266"/>
                </a:solidFill>
                <a:latin typeface="Calibri"/>
                <a:cs typeface="Calibri"/>
              </a:rPr>
              <a:t>Categorical</a:t>
            </a:r>
            <a:r>
              <a:rPr dirty="0" sz="2000" spc="-3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FA266"/>
                </a:solidFill>
                <a:latin typeface="Calibri"/>
                <a:cs typeface="Calibri"/>
              </a:rPr>
              <a:t>Features</a:t>
            </a:r>
            <a:r>
              <a:rPr dirty="0" sz="2000" spc="-25" b="1">
                <a:solidFill>
                  <a:srgbClr val="0FA266"/>
                </a:solidFill>
                <a:latin typeface="Calibri"/>
                <a:cs typeface="Calibri"/>
              </a:rPr>
              <a:t> (5)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8698" y="3782059"/>
            <a:ext cx="1483360" cy="1092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375746"/>
                </a:solidFill>
                <a:latin typeface="Calibri"/>
                <a:cs typeface="Calibri"/>
              </a:rPr>
              <a:t>GENDER EDUCATION HOME_ONWERSHIP LOAN_INTENT PREVIOUS_LOAN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Exploratory</a:t>
            </a:r>
            <a:r>
              <a:rPr dirty="0" spc="-95"/>
              <a:t> </a:t>
            </a:r>
            <a:r>
              <a:rPr dirty="0"/>
              <a:t>Data</a:t>
            </a:r>
            <a:r>
              <a:rPr dirty="0" spc="-90"/>
              <a:t> </a:t>
            </a:r>
            <a:r>
              <a:rPr dirty="0" spc="-10"/>
              <a:t>Analysis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397375"/>
            <a:chOff x="681481" y="1801787"/>
            <a:chExt cx="5220970" cy="4397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47" cy="4397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8035" y="3688737"/>
                  </a:lnTo>
                  <a:lnTo>
                    <a:pt x="17946" y="3741026"/>
                  </a:lnTo>
                  <a:lnTo>
                    <a:pt x="17995" y="3741287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7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089166" y="3792626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7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359698" y="2997263"/>
            <a:ext cx="1862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Analysis</a:t>
            </a:r>
            <a:r>
              <a:rPr dirty="0" sz="1800" spc="-4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Performed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8705" y="3545535"/>
            <a:ext cx="2338705" cy="1412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0810" indent="-118110">
              <a:lnSpc>
                <a:spcPct val="100000"/>
              </a:lnSpc>
              <a:spcBef>
                <a:spcPts val="100"/>
              </a:spcBef>
              <a:buChar char="•"/>
              <a:tabLst>
                <a:tab pos="130810" algn="l"/>
              </a:tabLst>
            </a:pP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DATASET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INFO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&amp;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65">
                <a:solidFill>
                  <a:srgbClr val="0A2015"/>
                </a:solidFill>
                <a:latin typeface="Calibri"/>
                <a:cs typeface="Calibri"/>
              </a:rPr>
              <a:t>DATA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TYPES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MISSING</a:t>
            </a:r>
            <a:r>
              <a:rPr dirty="0" sz="13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VALUES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CHECK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ts val="1560"/>
              </a:lnSpc>
              <a:buChar char="•"/>
              <a:tabLst>
                <a:tab pos="130810" algn="l"/>
              </a:tabLst>
            </a:pP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DUPLICATE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ROWS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CHECK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DESCRIPTIVE</a:t>
            </a:r>
            <a:r>
              <a:rPr dirty="0" sz="1300" spc="-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STATISTICS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spcBef>
                <a:spcPts val="5"/>
              </a:spcBef>
              <a:buChar char="•"/>
              <a:tabLst>
                <a:tab pos="130810" algn="l"/>
              </a:tabLst>
            </a:pP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CORRELATION</a:t>
            </a:r>
            <a:r>
              <a:rPr dirty="0" sz="1300" spc="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ANALYSIS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ts val="1560"/>
              </a:lnSpc>
              <a:buChar char="•"/>
              <a:tabLst>
                <a:tab pos="130810" algn="l"/>
              </a:tabLst>
            </a:pP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DISTRIBUTION</a:t>
            </a:r>
            <a:r>
              <a:rPr dirty="0" sz="1300" spc="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ANALYSIS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TARGET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VARIABLE</a:t>
            </a:r>
            <a:r>
              <a:rPr dirty="0" sz="13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DISTRIBUTION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67882" y="1801787"/>
            <a:ext cx="5220335" cy="4397375"/>
            <a:chOff x="6167882" y="1801787"/>
            <a:chExt cx="5220335" cy="43973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004" cy="43970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17946" y="3741026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6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6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177656" y="3096259"/>
            <a:ext cx="1200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Key</a:t>
            </a:r>
            <a:r>
              <a:rPr dirty="0" sz="1800" spc="-8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Findings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5105" y="3644900"/>
            <a:ext cx="3469004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0810" indent="-118110">
              <a:lnSpc>
                <a:spcPct val="100000"/>
              </a:lnSpc>
              <a:spcBef>
                <a:spcPts val="100"/>
              </a:spcBef>
              <a:buChar char="•"/>
              <a:tabLst>
                <a:tab pos="130810" algn="l"/>
              </a:tabLst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NO</a:t>
            </a:r>
            <a:r>
              <a:rPr dirty="0" sz="13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MISSING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VALUES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ts val="1560"/>
              </a:lnSpc>
              <a:buChar char="•"/>
              <a:tabLst>
                <a:tab pos="130810" algn="l"/>
              </a:tabLst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NO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DUPLICATE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ROWS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CLASS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IMBALANCE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IN</a:t>
            </a:r>
            <a:r>
              <a:rPr dirty="0" sz="13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TARGET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PERSON_INCOME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IS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HIGHLY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SKEWED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EMPLOYEE_EXPERIENCE</a:t>
            </a:r>
            <a:r>
              <a:rPr dirty="0" sz="13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HAS</a:t>
            </a:r>
            <a:r>
              <a:rPr dirty="0" sz="13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MANY</a:t>
            </a:r>
            <a:r>
              <a:rPr dirty="0" sz="13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ZERO</a:t>
            </a:r>
            <a:r>
              <a:rPr dirty="0" sz="13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VALUES</a:t>
            </a:r>
            <a:endParaRPr sz="1300">
              <a:latin typeface="Calibri"/>
              <a:cs typeface="Calibri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SOME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EXTREME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/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UNREALISTIC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VALUES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EXIST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Target</a:t>
            </a:r>
            <a:r>
              <a:rPr dirty="0" spc="-60"/>
              <a:t> </a:t>
            </a:r>
            <a:r>
              <a:rPr dirty="0" spc="-10"/>
              <a:t>Distribution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397375"/>
            <a:chOff x="681481" y="1801787"/>
            <a:chExt cx="5220970" cy="4397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47" cy="4397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8035" y="3688737"/>
                  </a:lnTo>
                  <a:lnTo>
                    <a:pt x="17946" y="3741026"/>
                  </a:lnTo>
                  <a:lnTo>
                    <a:pt x="17995" y="3741287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7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089166" y="3792626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7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326576" y="3058096"/>
            <a:ext cx="1926589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156433"/>
                </a:solidFill>
                <a:latin typeface="Calibri"/>
                <a:cs typeface="Calibri"/>
              </a:rPr>
              <a:t>01</a:t>
            </a:r>
            <a:r>
              <a:rPr dirty="0" sz="2200" spc="41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56433"/>
                </a:solidFill>
                <a:latin typeface="Calibri"/>
                <a:cs typeface="Calibri"/>
              </a:rPr>
              <a:t>REJECTED</a:t>
            </a:r>
            <a:r>
              <a:rPr dirty="0" sz="2200" spc="-5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2200" spc="-25" b="1">
                <a:solidFill>
                  <a:srgbClr val="156433"/>
                </a:solidFill>
                <a:latin typeface="Calibri"/>
                <a:cs typeface="Calibri"/>
              </a:rPr>
              <a:t>(0)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8705" y="3728783"/>
            <a:ext cx="18434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35,000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Records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77.78%</a:t>
            </a:r>
            <a:r>
              <a:rPr dirty="0" sz="15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of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Total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Dataset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8705" y="4413148"/>
            <a:ext cx="39998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Unapproved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applications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due</a:t>
            </a: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to</a:t>
            </a:r>
            <a:r>
              <a:rPr dirty="0" sz="15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high</a:t>
            </a:r>
            <a:r>
              <a:rPr dirty="0" sz="15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debt</a:t>
            </a: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burdens, insufficient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work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history,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or</a:t>
            </a:r>
            <a:r>
              <a:rPr dirty="0" sz="15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lower</a:t>
            </a:r>
            <a:r>
              <a:rPr dirty="0" sz="15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credit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bands.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7882" y="1801787"/>
            <a:ext cx="5220335" cy="4397375"/>
            <a:chOff x="6167882" y="1801787"/>
            <a:chExt cx="5220335" cy="43973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004" cy="43970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17946" y="3741026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6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6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733055" y="3172574"/>
            <a:ext cx="20897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0FA266"/>
                </a:solidFill>
                <a:latin typeface="Calibri"/>
                <a:cs typeface="Calibri"/>
              </a:rPr>
              <a:t>02</a:t>
            </a:r>
            <a:r>
              <a:rPr dirty="0" sz="2200" spc="45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0FA266"/>
                </a:solidFill>
                <a:latin typeface="Calibri"/>
                <a:cs typeface="Calibri"/>
              </a:rPr>
              <a:t>APPROVED</a:t>
            </a:r>
            <a:r>
              <a:rPr dirty="0" sz="2200" spc="-25" b="1">
                <a:solidFill>
                  <a:srgbClr val="0FA266"/>
                </a:solidFill>
                <a:latin typeface="Calibri"/>
                <a:cs typeface="Calibri"/>
              </a:rPr>
              <a:t> (1)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05105" y="3843261"/>
            <a:ext cx="18434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10,000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Records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22.22%</a:t>
            </a:r>
            <a:r>
              <a:rPr dirty="0" sz="15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of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Total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Dataset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5105" y="4527626"/>
            <a:ext cx="31851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03</a:t>
            </a:r>
            <a:r>
              <a:rPr dirty="0" sz="1500" spc="28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3.5x</a:t>
            </a:r>
            <a:r>
              <a:rPr dirty="0" sz="15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More</a:t>
            </a:r>
            <a:r>
              <a:rPr dirty="0" sz="15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Rejections</a:t>
            </a: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than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Approvals.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95"/>
              <a:t> </a:t>
            </a:r>
            <a:r>
              <a:rPr dirty="0" spc="-10"/>
              <a:t>Preprocessing</a:t>
            </a:r>
            <a:r>
              <a:rPr dirty="0" spc="-90"/>
              <a:t> </a:t>
            </a:r>
            <a:r>
              <a:rPr dirty="0" spc="-10"/>
              <a:t>Pipeline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10798175" cy="1196975"/>
            <a:chOff x="681481" y="1801787"/>
            <a:chExt cx="10798175" cy="1196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10797844" cy="11966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164" y="1828444"/>
              <a:ext cx="10698480" cy="1097280"/>
            </a:xfrm>
            <a:custGeom>
              <a:avLst/>
              <a:gdLst/>
              <a:ahLst/>
              <a:cxnLst/>
              <a:rect l="l" t="t" r="r" b="b"/>
              <a:pathLst>
                <a:path w="10698480" h="1097280">
                  <a:moveTo>
                    <a:pt x="10515231" y="0"/>
                  </a:moveTo>
                  <a:lnTo>
                    <a:pt x="182879" y="0"/>
                  </a:lnTo>
                  <a:lnTo>
                    <a:pt x="158971" y="1546"/>
                  </a:lnTo>
                  <a:lnTo>
                    <a:pt x="112912" y="13817"/>
                  </a:lnTo>
                  <a:lnTo>
                    <a:pt x="71559" y="37874"/>
                  </a:lnTo>
                  <a:lnTo>
                    <a:pt x="37874" y="71559"/>
                  </a:lnTo>
                  <a:lnTo>
                    <a:pt x="13817" y="112912"/>
                  </a:lnTo>
                  <a:lnTo>
                    <a:pt x="1546" y="158971"/>
                  </a:lnTo>
                  <a:lnTo>
                    <a:pt x="0" y="182880"/>
                  </a:lnTo>
                  <a:lnTo>
                    <a:pt x="0" y="914400"/>
                  </a:lnTo>
                  <a:lnTo>
                    <a:pt x="1523" y="937940"/>
                  </a:lnTo>
                  <a:lnTo>
                    <a:pt x="1546" y="938301"/>
                  </a:lnTo>
                  <a:lnTo>
                    <a:pt x="6093" y="961375"/>
                  </a:lnTo>
                  <a:lnTo>
                    <a:pt x="6164" y="961734"/>
                  </a:lnTo>
                  <a:lnTo>
                    <a:pt x="13695" y="983999"/>
                  </a:lnTo>
                  <a:lnTo>
                    <a:pt x="37874" y="1025715"/>
                  </a:lnTo>
                  <a:lnTo>
                    <a:pt x="71559" y="1059398"/>
                  </a:lnTo>
                  <a:lnTo>
                    <a:pt x="112912" y="1083456"/>
                  </a:lnTo>
                  <a:lnTo>
                    <a:pt x="158971" y="1095732"/>
                  </a:lnTo>
                  <a:lnTo>
                    <a:pt x="182879" y="1097280"/>
                  </a:lnTo>
                  <a:lnTo>
                    <a:pt x="10515600" y="1096911"/>
                  </a:lnTo>
                  <a:lnTo>
                    <a:pt x="10562934" y="1090747"/>
                  </a:lnTo>
                  <a:lnTo>
                    <a:pt x="10607040" y="1072438"/>
                  </a:lnTo>
                  <a:lnTo>
                    <a:pt x="10644836" y="1043274"/>
                  </a:lnTo>
                  <a:lnTo>
                    <a:pt x="10673994" y="1005471"/>
                  </a:lnTo>
                  <a:lnTo>
                    <a:pt x="10692192" y="961734"/>
                  </a:lnTo>
                  <a:lnTo>
                    <a:pt x="10692314" y="961375"/>
                  </a:lnTo>
                  <a:lnTo>
                    <a:pt x="10696861" y="938301"/>
                  </a:lnTo>
                  <a:lnTo>
                    <a:pt x="10696932" y="937940"/>
                  </a:lnTo>
                  <a:lnTo>
                    <a:pt x="10698456" y="914400"/>
                  </a:lnTo>
                  <a:lnTo>
                    <a:pt x="10698480" y="914031"/>
                  </a:lnTo>
                  <a:lnTo>
                    <a:pt x="10698111" y="182880"/>
                  </a:lnTo>
                  <a:lnTo>
                    <a:pt x="10691947" y="135535"/>
                  </a:lnTo>
                  <a:lnTo>
                    <a:pt x="10673638" y="91440"/>
                  </a:lnTo>
                  <a:lnTo>
                    <a:pt x="10644474" y="53636"/>
                  </a:lnTo>
                  <a:lnTo>
                    <a:pt x="10606671" y="24472"/>
                  </a:lnTo>
                  <a:lnTo>
                    <a:pt x="10562575" y="6164"/>
                  </a:lnTo>
                  <a:lnTo>
                    <a:pt x="10539140" y="1546"/>
                  </a:lnTo>
                  <a:lnTo>
                    <a:pt x="10515231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164" y="1828444"/>
              <a:ext cx="10698480" cy="1097280"/>
            </a:xfrm>
            <a:custGeom>
              <a:avLst/>
              <a:gdLst/>
              <a:ahLst/>
              <a:cxnLst/>
              <a:rect l="l" t="t" r="r" b="b"/>
              <a:pathLst>
                <a:path w="10698480" h="1097280">
                  <a:moveTo>
                    <a:pt x="0" y="182880"/>
                  </a:moveTo>
                  <a:lnTo>
                    <a:pt x="1546" y="158971"/>
                  </a:lnTo>
                  <a:lnTo>
                    <a:pt x="6164" y="135535"/>
                  </a:lnTo>
                  <a:lnTo>
                    <a:pt x="24472" y="91440"/>
                  </a:lnTo>
                  <a:lnTo>
                    <a:pt x="53636" y="53636"/>
                  </a:lnTo>
                  <a:lnTo>
                    <a:pt x="91440" y="24472"/>
                  </a:lnTo>
                  <a:lnTo>
                    <a:pt x="135535" y="6164"/>
                  </a:lnTo>
                  <a:lnTo>
                    <a:pt x="182879" y="0"/>
                  </a:lnTo>
                  <a:lnTo>
                    <a:pt x="10515231" y="0"/>
                  </a:lnTo>
                  <a:lnTo>
                    <a:pt x="10562575" y="6164"/>
                  </a:lnTo>
                  <a:lnTo>
                    <a:pt x="10606671" y="24472"/>
                  </a:lnTo>
                  <a:lnTo>
                    <a:pt x="10644474" y="53636"/>
                  </a:lnTo>
                  <a:lnTo>
                    <a:pt x="10673638" y="91440"/>
                  </a:lnTo>
                  <a:lnTo>
                    <a:pt x="10691947" y="135535"/>
                  </a:lnTo>
                  <a:lnTo>
                    <a:pt x="10698111" y="182880"/>
                  </a:lnTo>
                  <a:lnTo>
                    <a:pt x="10698480" y="914031"/>
                  </a:lnTo>
                  <a:lnTo>
                    <a:pt x="10696932" y="937940"/>
                  </a:lnTo>
                  <a:lnTo>
                    <a:pt x="10692314" y="961375"/>
                  </a:lnTo>
                  <a:lnTo>
                    <a:pt x="10673994" y="1005471"/>
                  </a:lnTo>
                  <a:lnTo>
                    <a:pt x="10644836" y="1043274"/>
                  </a:lnTo>
                  <a:lnTo>
                    <a:pt x="10607040" y="1072438"/>
                  </a:lnTo>
                  <a:lnTo>
                    <a:pt x="10562934" y="1090747"/>
                  </a:lnTo>
                  <a:lnTo>
                    <a:pt x="10515600" y="1096911"/>
                  </a:lnTo>
                  <a:lnTo>
                    <a:pt x="182879" y="1097280"/>
                  </a:lnTo>
                  <a:lnTo>
                    <a:pt x="135535" y="1091114"/>
                  </a:lnTo>
                  <a:lnTo>
                    <a:pt x="91440" y="1072794"/>
                  </a:lnTo>
                  <a:lnTo>
                    <a:pt x="53636" y="1043636"/>
                  </a:lnTo>
                  <a:lnTo>
                    <a:pt x="24472" y="1005840"/>
                  </a:lnTo>
                  <a:lnTo>
                    <a:pt x="6164" y="961734"/>
                  </a:lnTo>
                  <a:lnTo>
                    <a:pt x="0" y="914400"/>
                  </a:lnTo>
                  <a:lnTo>
                    <a:pt x="0" y="182880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719618" y="2265375"/>
            <a:ext cx="87249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RAW</a:t>
            </a:r>
            <a:r>
              <a:rPr dirty="0" sz="1300" spc="-6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DATA</a:t>
            </a:r>
            <a:r>
              <a:rPr dirty="0" sz="1300" spc="42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56433"/>
                </a:solidFill>
                <a:latin typeface="Segoe UI Symbol"/>
                <a:cs typeface="Segoe UI Symbol"/>
              </a:rPr>
              <a:t>➔</a:t>
            </a:r>
            <a:r>
              <a:rPr dirty="0" sz="1300" spc="340">
                <a:solidFill>
                  <a:srgbClr val="156433"/>
                </a:solidFill>
                <a:latin typeface="Segoe UI Symbol"/>
                <a:cs typeface="Segoe UI Symbol"/>
              </a:rPr>
              <a:t> 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NUMERICAL</a:t>
            </a:r>
            <a:r>
              <a:rPr dirty="0" sz="1300" spc="-5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/</a:t>
            </a:r>
            <a:r>
              <a:rPr dirty="0" sz="1300" spc="-6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156433"/>
                </a:solidFill>
                <a:latin typeface="Calibri"/>
                <a:cs typeface="Calibri"/>
              </a:rPr>
              <a:t>CATEGORICAL</a:t>
            </a:r>
            <a:r>
              <a:rPr dirty="0" sz="1300" spc="-5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SPLIT</a:t>
            </a:r>
            <a:r>
              <a:rPr dirty="0" sz="1300" spc="42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56433"/>
                </a:solidFill>
                <a:latin typeface="Segoe UI Symbol"/>
                <a:cs typeface="Segoe UI Symbol"/>
              </a:rPr>
              <a:t>➔</a:t>
            </a:r>
            <a:r>
              <a:rPr dirty="0" sz="1300" spc="340">
                <a:solidFill>
                  <a:srgbClr val="156433"/>
                </a:solidFill>
                <a:latin typeface="Segoe UI Symbol"/>
                <a:cs typeface="Segoe UI Symbol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IMPUTATION</a:t>
            </a:r>
            <a:r>
              <a:rPr dirty="0" sz="1300" spc="434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56433"/>
                </a:solidFill>
                <a:latin typeface="Segoe UI Symbol"/>
                <a:cs typeface="Segoe UI Symbol"/>
              </a:rPr>
              <a:t>➔</a:t>
            </a:r>
            <a:r>
              <a:rPr dirty="0" sz="1300" spc="325">
                <a:solidFill>
                  <a:srgbClr val="156433"/>
                </a:solidFill>
                <a:latin typeface="Segoe UI Symbol"/>
                <a:cs typeface="Segoe UI Symbol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SCALING</a:t>
            </a:r>
            <a:r>
              <a:rPr dirty="0" sz="1300" spc="-5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/</a:t>
            </a:r>
            <a:r>
              <a:rPr dirty="0" sz="1300" spc="-6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156433"/>
                </a:solidFill>
                <a:latin typeface="Calibri"/>
                <a:cs typeface="Calibri"/>
              </a:rPr>
              <a:t>ONE-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HOT</a:t>
            </a:r>
            <a:r>
              <a:rPr dirty="0" sz="1300" spc="-7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ENCODING</a:t>
            </a:r>
            <a:r>
              <a:rPr dirty="0" sz="1300" spc="44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56433"/>
                </a:solidFill>
                <a:latin typeface="Segoe UI Symbol"/>
                <a:cs typeface="Segoe UI Symbol"/>
              </a:rPr>
              <a:t>➔</a:t>
            </a:r>
            <a:r>
              <a:rPr dirty="0" sz="1300" spc="320">
                <a:solidFill>
                  <a:srgbClr val="156433"/>
                </a:solidFill>
                <a:latin typeface="Segoe UI Symbol"/>
                <a:cs typeface="Segoe UI Symbol"/>
              </a:rPr>
              <a:t> 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PROCESSED</a:t>
            </a:r>
            <a:r>
              <a:rPr dirty="0" sz="1300" spc="-6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156433"/>
                </a:solidFill>
                <a:latin typeface="Calibri"/>
                <a:cs typeface="Calibri"/>
              </a:rPr>
              <a:t>DATA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1481" y="3081947"/>
            <a:ext cx="10798810" cy="3117215"/>
            <a:chOff x="681481" y="3081947"/>
            <a:chExt cx="10798810" cy="31172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481" y="3081947"/>
              <a:ext cx="10798200" cy="31168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31164" y="3108604"/>
              <a:ext cx="10698480" cy="3017520"/>
            </a:xfrm>
            <a:custGeom>
              <a:avLst/>
              <a:gdLst/>
              <a:ahLst/>
              <a:cxnLst/>
              <a:rect l="l" t="t" r="r" b="b"/>
              <a:pathLst>
                <a:path w="10698480" h="3017520">
                  <a:moveTo>
                    <a:pt x="10195191" y="0"/>
                  </a:moveTo>
                  <a:lnTo>
                    <a:pt x="502919" y="0"/>
                  </a:lnTo>
                  <a:lnTo>
                    <a:pt x="450243" y="2784"/>
                  </a:lnTo>
                  <a:lnTo>
                    <a:pt x="398344" y="11045"/>
                  </a:lnTo>
                  <a:lnTo>
                    <a:pt x="347654" y="24644"/>
                  </a:lnTo>
                  <a:lnTo>
                    <a:pt x="298608" y="43445"/>
                  </a:lnTo>
                  <a:lnTo>
                    <a:pt x="251637" y="67310"/>
                  </a:lnTo>
                  <a:lnTo>
                    <a:pt x="207269" y="96123"/>
                  </a:lnTo>
                  <a:lnTo>
                    <a:pt x="166357" y="129239"/>
                  </a:lnTo>
                  <a:lnTo>
                    <a:pt x="129175" y="166381"/>
                  </a:lnTo>
                  <a:lnTo>
                    <a:pt x="96123" y="207084"/>
                  </a:lnTo>
                  <a:lnTo>
                    <a:pt x="67309" y="251269"/>
                  </a:lnTo>
                  <a:lnTo>
                    <a:pt x="43445" y="298419"/>
                  </a:lnTo>
                  <a:lnTo>
                    <a:pt x="24623" y="347654"/>
                  </a:lnTo>
                  <a:lnTo>
                    <a:pt x="11041" y="398344"/>
                  </a:lnTo>
                  <a:lnTo>
                    <a:pt x="2784" y="450243"/>
                  </a:lnTo>
                  <a:lnTo>
                    <a:pt x="0" y="502920"/>
                  </a:lnTo>
                  <a:lnTo>
                    <a:pt x="0" y="2514600"/>
                  </a:lnTo>
                  <a:lnTo>
                    <a:pt x="2764" y="2566911"/>
                  </a:lnTo>
                  <a:lnTo>
                    <a:pt x="2784" y="2567275"/>
                  </a:lnTo>
                  <a:lnTo>
                    <a:pt x="10990" y="2618830"/>
                  </a:lnTo>
                  <a:lnTo>
                    <a:pt x="11045" y="2619171"/>
                  </a:lnTo>
                  <a:lnTo>
                    <a:pt x="24568" y="2669573"/>
                  </a:lnTo>
                  <a:lnTo>
                    <a:pt x="24644" y="2669856"/>
                  </a:lnTo>
                  <a:lnTo>
                    <a:pt x="43378" y="2718725"/>
                  </a:lnTo>
                  <a:lnTo>
                    <a:pt x="43445" y="2718900"/>
                  </a:lnTo>
                  <a:lnTo>
                    <a:pt x="67309" y="2765869"/>
                  </a:lnTo>
                  <a:lnTo>
                    <a:pt x="96008" y="2810060"/>
                  </a:lnTo>
                  <a:lnTo>
                    <a:pt x="96121" y="2810234"/>
                  </a:lnTo>
                  <a:lnTo>
                    <a:pt x="129216" y="2851125"/>
                  </a:lnTo>
                  <a:lnTo>
                    <a:pt x="166302" y="2888267"/>
                  </a:lnTo>
                  <a:lnTo>
                    <a:pt x="207084" y="2921383"/>
                  </a:lnTo>
                  <a:lnTo>
                    <a:pt x="251269" y="2950197"/>
                  </a:lnTo>
                  <a:lnTo>
                    <a:pt x="298419" y="2974062"/>
                  </a:lnTo>
                  <a:lnTo>
                    <a:pt x="347575" y="2992866"/>
                  </a:lnTo>
                  <a:lnTo>
                    <a:pt x="398320" y="3006470"/>
                  </a:lnTo>
                  <a:lnTo>
                    <a:pt x="450240" y="3014734"/>
                  </a:lnTo>
                  <a:lnTo>
                    <a:pt x="502919" y="3017520"/>
                  </a:lnTo>
                  <a:lnTo>
                    <a:pt x="10195560" y="3017151"/>
                  </a:lnTo>
                  <a:lnTo>
                    <a:pt x="10248235" y="3014367"/>
                  </a:lnTo>
                  <a:lnTo>
                    <a:pt x="10300131" y="3006106"/>
                  </a:lnTo>
                  <a:lnTo>
                    <a:pt x="10350816" y="2992506"/>
                  </a:lnTo>
                  <a:lnTo>
                    <a:pt x="10399860" y="2973705"/>
                  </a:lnTo>
                  <a:lnTo>
                    <a:pt x="10446829" y="2949841"/>
                  </a:lnTo>
                  <a:lnTo>
                    <a:pt x="10491194" y="2921030"/>
                  </a:lnTo>
                  <a:lnTo>
                    <a:pt x="10532085" y="2887934"/>
                  </a:lnTo>
                  <a:lnTo>
                    <a:pt x="10569227" y="2850846"/>
                  </a:lnTo>
                  <a:lnTo>
                    <a:pt x="10602343" y="2810060"/>
                  </a:lnTo>
                  <a:lnTo>
                    <a:pt x="10631157" y="2765869"/>
                  </a:lnTo>
                  <a:lnTo>
                    <a:pt x="10654934" y="2718900"/>
                  </a:lnTo>
                  <a:lnTo>
                    <a:pt x="10655022" y="2718725"/>
                  </a:lnTo>
                  <a:lnTo>
                    <a:pt x="10673718" y="2669856"/>
                  </a:lnTo>
                  <a:lnTo>
                    <a:pt x="10687338" y="2619171"/>
                  </a:lnTo>
                  <a:lnTo>
                    <a:pt x="10695636" y="2567275"/>
                  </a:lnTo>
                  <a:lnTo>
                    <a:pt x="10695694" y="2566911"/>
                  </a:lnTo>
                  <a:lnTo>
                    <a:pt x="10698460" y="2514600"/>
                  </a:lnTo>
                  <a:lnTo>
                    <a:pt x="10698480" y="2514231"/>
                  </a:lnTo>
                  <a:lnTo>
                    <a:pt x="10698111" y="502920"/>
                  </a:lnTo>
                  <a:lnTo>
                    <a:pt x="10695327" y="450243"/>
                  </a:lnTo>
                  <a:lnTo>
                    <a:pt x="10687066" y="398344"/>
                  </a:lnTo>
                  <a:lnTo>
                    <a:pt x="10673466" y="347654"/>
                  </a:lnTo>
                  <a:lnTo>
                    <a:pt x="10654665" y="298608"/>
                  </a:lnTo>
                  <a:lnTo>
                    <a:pt x="10630801" y="251637"/>
                  </a:lnTo>
                  <a:lnTo>
                    <a:pt x="10601990" y="207272"/>
                  </a:lnTo>
                  <a:lnTo>
                    <a:pt x="10568894" y="166381"/>
                  </a:lnTo>
                  <a:lnTo>
                    <a:pt x="10531806" y="129239"/>
                  </a:lnTo>
                  <a:lnTo>
                    <a:pt x="10491020" y="96123"/>
                  </a:lnTo>
                  <a:lnTo>
                    <a:pt x="10446829" y="67310"/>
                  </a:lnTo>
                  <a:lnTo>
                    <a:pt x="10399685" y="43445"/>
                  </a:lnTo>
                  <a:lnTo>
                    <a:pt x="10350533" y="24644"/>
                  </a:lnTo>
                  <a:lnTo>
                    <a:pt x="10299790" y="11045"/>
                  </a:lnTo>
                  <a:lnTo>
                    <a:pt x="10247871" y="2784"/>
                  </a:lnTo>
                  <a:lnTo>
                    <a:pt x="101951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31164" y="3108604"/>
              <a:ext cx="10698480" cy="3017520"/>
            </a:xfrm>
            <a:custGeom>
              <a:avLst/>
              <a:gdLst/>
              <a:ahLst/>
              <a:cxnLst/>
              <a:rect l="l" t="t" r="r" b="b"/>
              <a:pathLst>
                <a:path w="10698480" h="3017520">
                  <a:moveTo>
                    <a:pt x="0" y="502920"/>
                  </a:moveTo>
                  <a:lnTo>
                    <a:pt x="2784" y="450240"/>
                  </a:lnTo>
                  <a:lnTo>
                    <a:pt x="11045" y="398320"/>
                  </a:lnTo>
                  <a:lnTo>
                    <a:pt x="24644" y="347575"/>
                  </a:lnTo>
                  <a:lnTo>
                    <a:pt x="43445" y="298419"/>
                  </a:lnTo>
                  <a:lnTo>
                    <a:pt x="67309" y="251269"/>
                  </a:lnTo>
                  <a:lnTo>
                    <a:pt x="96123" y="207084"/>
                  </a:lnTo>
                  <a:lnTo>
                    <a:pt x="129239" y="166302"/>
                  </a:lnTo>
                  <a:lnTo>
                    <a:pt x="166381" y="129216"/>
                  </a:lnTo>
                  <a:lnTo>
                    <a:pt x="207272" y="96121"/>
                  </a:lnTo>
                  <a:lnTo>
                    <a:pt x="251637" y="67310"/>
                  </a:lnTo>
                  <a:lnTo>
                    <a:pt x="298608" y="43445"/>
                  </a:lnTo>
                  <a:lnTo>
                    <a:pt x="347654" y="24644"/>
                  </a:lnTo>
                  <a:lnTo>
                    <a:pt x="398344" y="11045"/>
                  </a:lnTo>
                  <a:lnTo>
                    <a:pt x="450243" y="2784"/>
                  </a:lnTo>
                  <a:lnTo>
                    <a:pt x="502919" y="0"/>
                  </a:lnTo>
                  <a:lnTo>
                    <a:pt x="10195191" y="0"/>
                  </a:lnTo>
                  <a:lnTo>
                    <a:pt x="10247871" y="2784"/>
                  </a:lnTo>
                  <a:lnTo>
                    <a:pt x="10299790" y="11045"/>
                  </a:lnTo>
                  <a:lnTo>
                    <a:pt x="10350533" y="24644"/>
                  </a:lnTo>
                  <a:lnTo>
                    <a:pt x="10399685" y="43445"/>
                  </a:lnTo>
                  <a:lnTo>
                    <a:pt x="10446829" y="67310"/>
                  </a:lnTo>
                  <a:lnTo>
                    <a:pt x="10491020" y="96123"/>
                  </a:lnTo>
                  <a:lnTo>
                    <a:pt x="10531806" y="129239"/>
                  </a:lnTo>
                  <a:lnTo>
                    <a:pt x="10568894" y="166381"/>
                  </a:lnTo>
                  <a:lnTo>
                    <a:pt x="10601990" y="207272"/>
                  </a:lnTo>
                  <a:lnTo>
                    <a:pt x="10630801" y="251637"/>
                  </a:lnTo>
                  <a:lnTo>
                    <a:pt x="10654665" y="298608"/>
                  </a:lnTo>
                  <a:lnTo>
                    <a:pt x="10673466" y="347654"/>
                  </a:lnTo>
                  <a:lnTo>
                    <a:pt x="10687066" y="398344"/>
                  </a:lnTo>
                  <a:lnTo>
                    <a:pt x="10695327" y="450243"/>
                  </a:lnTo>
                  <a:lnTo>
                    <a:pt x="10698111" y="502920"/>
                  </a:lnTo>
                  <a:lnTo>
                    <a:pt x="10698480" y="2514231"/>
                  </a:lnTo>
                  <a:lnTo>
                    <a:pt x="10695694" y="2566911"/>
                  </a:lnTo>
                  <a:lnTo>
                    <a:pt x="10687430" y="2618830"/>
                  </a:lnTo>
                  <a:lnTo>
                    <a:pt x="10673826" y="2669573"/>
                  </a:lnTo>
                  <a:lnTo>
                    <a:pt x="10655022" y="2718725"/>
                  </a:lnTo>
                  <a:lnTo>
                    <a:pt x="10631157" y="2765869"/>
                  </a:lnTo>
                  <a:lnTo>
                    <a:pt x="10602343" y="2810060"/>
                  </a:lnTo>
                  <a:lnTo>
                    <a:pt x="10569227" y="2850846"/>
                  </a:lnTo>
                  <a:lnTo>
                    <a:pt x="10532085" y="2887934"/>
                  </a:lnTo>
                  <a:lnTo>
                    <a:pt x="10491194" y="2921030"/>
                  </a:lnTo>
                  <a:lnTo>
                    <a:pt x="10446829" y="2949841"/>
                  </a:lnTo>
                  <a:lnTo>
                    <a:pt x="10399860" y="2973705"/>
                  </a:lnTo>
                  <a:lnTo>
                    <a:pt x="10350816" y="2992506"/>
                  </a:lnTo>
                  <a:lnTo>
                    <a:pt x="10300131" y="3006106"/>
                  </a:lnTo>
                  <a:lnTo>
                    <a:pt x="10248235" y="3014367"/>
                  </a:lnTo>
                  <a:lnTo>
                    <a:pt x="10195560" y="3017151"/>
                  </a:lnTo>
                  <a:lnTo>
                    <a:pt x="502919" y="3017520"/>
                  </a:lnTo>
                  <a:lnTo>
                    <a:pt x="450240" y="3014734"/>
                  </a:lnTo>
                  <a:lnTo>
                    <a:pt x="398320" y="3006470"/>
                  </a:lnTo>
                  <a:lnTo>
                    <a:pt x="347575" y="2992866"/>
                  </a:lnTo>
                  <a:lnTo>
                    <a:pt x="298419" y="2974062"/>
                  </a:lnTo>
                  <a:lnTo>
                    <a:pt x="251269" y="2950197"/>
                  </a:lnTo>
                  <a:lnTo>
                    <a:pt x="207084" y="2921383"/>
                  </a:lnTo>
                  <a:lnTo>
                    <a:pt x="166302" y="2888267"/>
                  </a:lnTo>
                  <a:lnTo>
                    <a:pt x="129216" y="2851125"/>
                  </a:lnTo>
                  <a:lnTo>
                    <a:pt x="96121" y="2810234"/>
                  </a:lnTo>
                  <a:lnTo>
                    <a:pt x="67309" y="2765869"/>
                  </a:lnTo>
                  <a:lnTo>
                    <a:pt x="43445" y="2718900"/>
                  </a:lnTo>
                  <a:lnTo>
                    <a:pt x="24644" y="2669856"/>
                  </a:lnTo>
                  <a:lnTo>
                    <a:pt x="11045" y="2619171"/>
                  </a:lnTo>
                  <a:lnTo>
                    <a:pt x="2784" y="2567275"/>
                  </a:lnTo>
                  <a:lnTo>
                    <a:pt x="0" y="2514600"/>
                  </a:lnTo>
                  <a:lnTo>
                    <a:pt x="0" y="502920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56424" y="3774503"/>
            <a:ext cx="8666480" cy="16852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17950">
              <a:lnSpc>
                <a:spcPts val="1680"/>
              </a:lnSpc>
              <a:spcBef>
                <a:spcPts val="100"/>
              </a:spcBef>
            </a:pPr>
            <a:r>
              <a:rPr dirty="0" sz="1400" b="1">
                <a:solidFill>
                  <a:srgbClr val="156433"/>
                </a:solidFill>
                <a:latin typeface="Calibri"/>
                <a:cs typeface="Calibri"/>
              </a:rPr>
              <a:t>NUMERICAL</a:t>
            </a:r>
            <a:r>
              <a:rPr dirty="0" sz="1400" spc="-6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56433"/>
                </a:solidFill>
                <a:latin typeface="Calibri"/>
                <a:cs typeface="Calibri"/>
              </a:rPr>
              <a:t>TRANSFORMATION: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Median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Imputation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+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StandardScaler.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Scaling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matters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for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distance-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based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models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like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KNN</a:t>
            </a:r>
            <a:r>
              <a:rPr dirty="0" sz="13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and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SVM.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0FA266"/>
                </a:solidFill>
                <a:latin typeface="Calibri"/>
                <a:cs typeface="Calibri"/>
              </a:rPr>
              <a:t>CATEGORICAL</a:t>
            </a:r>
            <a:r>
              <a:rPr dirty="0" sz="1400" spc="-60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FA266"/>
                </a:solidFill>
                <a:latin typeface="Calibri"/>
                <a:cs typeface="Calibri"/>
              </a:rPr>
              <a:t>TRANSFORMATION: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Most-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Frequent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Imputation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+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OneHotEncoder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(handle_unknown='ignore',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sparse_output=False)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to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convert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them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to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numeric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form.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dirty="0" sz="1400" spc="-10" b="1">
                <a:solidFill>
                  <a:srgbClr val="156433"/>
                </a:solidFill>
                <a:latin typeface="Calibri"/>
                <a:cs typeface="Calibri"/>
              </a:rPr>
              <a:t>PIPELINES</a:t>
            </a:r>
            <a:r>
              <a:rPr dirty="0" sz="1400" spc="-1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56433"/>
                </a:solidFill>
                <a:latin typeface="Calibri"/>
                <a:cs typeface="Calibri"/>
              </a:rPr>
              <a:t>&amp;</a:t>
            </a:r>
            <a:r>
              <a:rPr dirty="0" sz="1400" spc="-2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56433"/>
                </a:solidFill>
                <a:latin typeface="Calibri"/>
                <a:cs typeface="Calibri"/>
              </a:rPr>
              <a:t>COLUMNTRANSFORMER: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Keep</a:t>
            </a:r>
            <a:r>
              <a:rPr dirty="0" sz="13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preprocessing</a:t>
            </a:r>
            <a:r>
              <a:rPr dirty="0" sz="13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organized,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consistent,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and</a:t>
            </a:r>
            <a:r>
              <a:rPr dirty="0" sz="13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leak-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free.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Train</a:t>
            </a:r>
            <a:r>
              <a:rPr dirty="0" spc="-75"/>
              <a:t> </a:t>
            </a:r>
            <a:r>
              <a:rPr dirty="0"/>
              <a:t>/</a:t>
            </a:r>
            <a:r>
              <a:rPr dirty="0" spc="-75"/>
              <a:t> </a:t>
            </a:r>
            <a:r>
              <a:rPr dirty="0" spc="-60"/>
              <a:t>Test</a:t>
            </a:r>
            <a:r>
              <a:rPr dirty="0" spc="-75"/>
              <a:t> </a:t>
            </a:r>
            <a:r>
              <a:rPr dirty="0" spc="-20"/>
              <a:t>Split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397375"/>
            <a:chOff x="681481" y="1801787"/>
            <a:chExt cx="5220970" cy="4397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47" cy="4397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8035" y="3688737"/>
                  </a:lnTo>
                  <a:lnTo>
                    <a:pt x="17946" y="3741026"/>
                  </a:lnTo>
                  <a:lnTo>
                    <a:pt x="17995" y="3741287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7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089166" y="3792626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7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23058" y="3058096"/>
            <a:ext cx="17335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156433"/>
                </a:solidFill>
                <a:latin typeface="Calibri"/>
                <a:cs typeface="Calibri"/>
              </a:rPr>
              <a:t>80%</a:t>
            </a:r>
            <a:r>
              <a:rPr dirty="0" sz="2200" spc="-2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156433"/>
                </a:solidFill>
                <a:latin typeface="Calibri"/>
                <a:cs typeface="Calibri"/>
              </a:rPr>
              <a:t>TRAINING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8705" y="3728783"/>
            <a:ext cx="26060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36,000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TRAINING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SAMPLES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(80%)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8705" y="4185983"/>
            <a:ext cx="3590925" cy="709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95"/>
              </a:lnSpc>
              <a:spcBef>
                <a:spcPts val="100"/>
              </a:spcBef>
            </a:pP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RANDOM_STATE</a:t>
            </a:r>
            <a:r>
              <a:rPr dirty="0" sz="1500" spc="-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42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ts val="1800"/>
              </a:lnSpc>
              <a:spcBef>
                <a:spcPts val="50"/>
              </a:spcBef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STRATIFY</a:t>
            </a:r>
            <a:r>
              <a:rPr dirty="0" sz="15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Y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TO</a:t>
            </a:r>
            <a:r>
              <a:rPr dirty="0" sz="15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PRESERVE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5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ORIGINAL</a:t>
            </a:r>
            <a:r>
              <a:rPr dirty="0" sz="15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CLASS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DISTRIBUTION</a:t>
            </a:r>
            <a:r>
              <a:rPr dirty="0" sz="15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IN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BOTH</a:t>
            </a:r>
            <a:r>
              <a:rPr dirty="0" sz="15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SETS.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7882" y="1801787"/>
            <a:ext cx="5220335" cy="4397375"/>
            <a:chOff x="6167882" y="1801787"/>
            <a:chExt cx="5220335" cy="43973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004" cy="43970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17946" y="3741026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6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6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002346" y="3172574"/>
            <a:ext cx="15500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0FA266"/>
                </a:solidFill>
                <a:latin typeface="Calibri"/>
                <a:cs typeface="Calibri"/>
              </a:rPr>
              <a:t>20%</a:t>
            </a:r>
            <a:r>
              <a:rPr dirty="0" sz="2200" spc="-20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FA266"/>
                </a:solidFill>
                <a:latin typeface="Calibri"/>
                <a:cs typeface="Calibri"/>
              </a:rPr>
              <a:t>TESTING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05105" y="3843261"/>
            <a:ext cx="21082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9,000</a:t>
            </a:r>
            <a:r>
              <a:rPr dirty="0" sz="1500" spc="-6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TEST</a:t>
            </a:r>
            <a:r>
              <a:rPr dirty="0" sz="1500" spc="-6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SAMPLES</a:t>
            </a:r>
            <a:r>
              <a:rPr dirty="0" sz="1500" spc="-5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0A2015"/>
                </a:solidFill>
                <a:latin typeface="Calibri"/>
                <a:cs typeface="Calibri"/>
              </a:rPr>
              <a:t>(20%)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5105" y="4300461"/>
            <a:ext cx="4130675" cy="48133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789"/>
              </a:lnSpc>
              <a:spcBef>
                <a:spcPts val="165"/>
              </a:spcBef>
            </a:pP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Held-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out</a:t>
            </a:r>
            <a:r>
              <a:rPr dirty="0" sz="15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test</a:t>
            </a:r>
            <a:r>
              <a:rPr dirty="0" sz="15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set</a:t>
            </a:r>
            <a:r>
              <a:rPr dirty="0" sz="15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completely</a:t>
            </a:r>
            <a:r>
              <a:rPr dirty="0" sz="15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isolated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from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training</a:t>
            </a:r>
            <a:r>
              <a:rPr dirty="0" sz="15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A2015"/>
                </a:solidFill>
                <a:latin typeface="Calibri"/>
                <a:cs typeface="Calibri"/>
              </a:rPr>
              <a:t>to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ensure</a:t>
            </a:r>
            <a:r>
              <a:rPr dirty="0" sz="1500" spc="-5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unbiased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validation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of</a:t>
            </a:r>
            <a:r>
              <a:rPr dirty="0" sz="15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A2015"/>
                </a:solidFill>
                <a:latin typeface="Calibri"/>
                <a:cs typeface="Calibri"/>
              </a:rPr>
              <a:t>accuracy</a:t>
            </a:r>
            <a:r>
              <a:rPr dirty="0" sz="15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A2015"/>
                </a:solidFill>
                <a:latin typeface="Calibri"/>
                <a:cs typeface="Calibri"/>
              </a:rPr>
              <a:t>metrics.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dirty="0" spc="-114"/>
              <a:t> </a:t>
            </a:r>
            <a:r>
              <a:rPr dirty="0"/>
              <a:t>Learning</a:t>
            </a:r>
            <a:r>
              <a:rPr dirty="0" spc="-125"/>
              <a:t> </a:t>
            </a:r>
            <a:r>
              <a:rPr dirty="0" spc="-10"/>
              <a:t>Models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3392170" cy="1928495"/>
            <a:chOff x="681481" y="1801787"/>
            <a:chExt cx="3392170" cy="19284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3391547" cy="19281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7" y="1829168"/>
                  </a:lnTo>
                  <a:lnTo>
                    <a:pt x="2987281" y="1829168"/>
                  </a:lnTo>
                  <a:lnTo>
                    <a:pt x="3027143" y="1826557"/>
                  </a:lnTo>
                  <a:lnTo>
                    <a:pt x="3066071" y="1818816"/>
                  </a:lnTo>
                  <a:lnTo>
                    <a:pt x="3104022" y="1805926"/>
                  </a:lnTo>
                  <a:lnTo>
                    <a:pt x="3139922" y="1788121"/>
                  </a:lnTo>
                  <a:lnTo>
                    <a:pt x="3173002" y="1765979"/>
                  </a:lnTo>
                  <a:lnTo>
                    <a:pt x="3202776" y="1739839"/>
                  </a:lnTo>
                  <a:lnTo>
                    <a:pt x="3229180" y="1709806"/>
                  </a:lnTo>
                  <a:lnTo>
                    <a:pt x="3251530" y="1676527"/>
                  </a:lnTo>
                  <a:lnTo>
                    <a:pt x="3269047" y="1640982"/>
                  </a:lnTo>
                  <a:lnTo>
                    <a:pt x="3281841" y="1603262"/>
                  </a:lnTo>
                  <a:lnTo>
                    <a:pt x="3289596" y="1564191"/>
                  </a:lnTo>
                  <a:lnTo>
                    <a:pt x="3292208" y="1524241"/>
                  </a:lnTo>
                  <a:lnTo>
                    <a:pt x="3292185" y="304926"/>
                  </a:lnTo>
                  <a:lnTo>
                    <a:pt x="3289591" y="265332"/>
                  </a:lnTo>
                  <a:lnTo>
                    <a:pt x="3281810" y="226261"/>
                  </a:lnTo>
                  <a:lnTo>
                    <a:pt x="3268966" y="188541"/>
                  </a:lnTo>
                  <a:lnTo>
                    <a:pt x="3251161" y="152641"/>
                  </a:lnTo>
                  <a:lnTo>
                    <a:pt x="3229019" y="119563"/>
                  </a:lnTo>
                  <a:lnTo>
                    <a:pt x="3202789" y="89690"/>
                  </a:lnTo>
                  <a:lnTo>
                    <a:pt x="3172846" y="63394"/>
                  </a:lnTo>
                  <a:lnTo>
                    <a:pt x="3139566" y="41046"/>
                  </a:lnTo>
                  <a:lnTo>
                    <a:pt x="3103872" y="23449"/>
                  </a:lnTo>
                  <a:lnTo>
                    <a:pt x="3066257" y="10715"/>
                  </a:lnTo>
                  <a:lnTo>
                    <a:pt x="3027226" y="2977"/>
                  </a:lnTo>
                  <a:lnTo>
                    <a:pt x="298728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2987281" y="368"/>
                  </a:lnTo>
                  <a:lnTo>
                    <a:pt x="3027226" y="2977"/>
                  </a:lnTo>
                  <a:lnTo>
                    <a:pt x="3066257" y="10715"/>
                  </a:lnTo>
                  <a:lnTo>
                    <a:pt x="3103872" y="23449"/>
                  </a:lnTo>
                  <a:lnTo>
                    <a:pt x="3139566" y="41046"/>
                  </a:lnTo>
                  <a:lnTo>
                    <a:pt x="3172846" y="63394"/>
                  </a:lnTo>
                  <a:lnTo>
                    <a:pt x="3202789" y="89690"/>
                  </a:lnTo>
                  <a:lnTo>
                    <a:pt x="3229019" y="119563"/>
                  </a:lnTo>
                  <a:lnTo>
                    <a:pt x="3251161" y="152641"/>
                  </a:lnTo>
                  <a:lnTo>
                    <a:pt x="3268966" y="188541"/>
                  </a:lnTo>
                  <a:lnTo>
                    <a:pt x="3281810" y="226261"/>
                  </a:lnTo>
                  <a:lnTo>
                    <a:pt x="3289591" y="265332"/>
                  </a:lnTo>
                  <a:lnTo>
                    <a:pt x="3292208" y="305282"/>
                  </a:lnTo>
                  <a:lnTo>
                    <a:pt x="3292208" y="1524241"/>
                  </a:lnTo>
                  <a:lnTo>
                    <a:pt x="3289597" y="1564186"/>
                  </a:lnTo>
                  <a:lnTo>
                    <a:pt x="3281856" y="1603217"/>
                  </a:lnTo>
                  <a:lnTo>
                    <a:pt x="3269121" y="1640832"/>
                  </a:lnTo>
                  <a:lnTo>
                    <a:pt x="3251530" y="1676527"/>
                  </a:lnTo>
                  <a:lnTo>
                    <a:pt x="3229180" y="1709806"/>
                  </a:lnTo>
                  <a:lnTo>
                    <a:pt x="3202879" y="1739749"/>
                  </a:lnTo>
                  <a:lnTo>
                    <a:pt x="3173002" y="1765979"/>
                  </a:lnTo>
                  <a:lnTo>
                    <a:pt x="3139922" y="1788121"/>
                  </a:lnTo>
                  <a:lnTo>
                    <a:pt x="3104022" y="1805926"/>
                  </a:lnTo>
                  <a:lnTo>
                    <a:pt x="3066302" y="1818770"/>
                  </a:lnTo>
                  <a:lnTo>
                    <a:pt x="3027231" y="1826551"/>
                  </a:lnTo>
                  <a:lnTo>
                    <a:pt x="2987281" y="1829168"/>
                  </a:lnTo>
                  <a:lnTo>
                    <a:pt x="304927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7737" y="2425941"/>
            <a:ext cx="2647315" cy="633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8961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56433"/>
                </a:solidFill>
                <a:latin typeface="Calibri"/>
                <a:cs typeface="Calibri"/>
              </a:rPr>
              <a:t>Logistic</a:t>
            </a:r>
            <a:r>
              <a:rPr dirty="0" sz="1600" spc="-3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56433"/>
                </a:solidFill>
                <a:latin typeface="Calibri"/>
                <a:cs typeface="Calibri"/>
              </a:rPr>
              <a:t>Regression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60"/>
              </a:spcBef>
            </a:pP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PREDICTS</a:t>
            </a:r>
            <a:r>
              <a:rPr dirty="0" sz="12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APPROVAL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PROBABILITY</a:t>
            </a:r>
            <a:r>
              <a:rPr dirty="0" sz="12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WITH</a:t>
            </a:r>
            <a:r>
              <a:rPr dirty="0" sz="12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0A2015"/>
                </a:solidFill>
                <a:latin typeface="Calibri"/>
                <a:cs typeface="Calibri"/>
              </a:rPr>
              <a:t>A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LINEAR</a:t>
            </a:r>
            <a:r>
              <a:rPr dirty="0" sz="1200" spc="-6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DECISION</a:t>
            </a:r>
            <a:r>
              <a:rPr dirty="0" sz="12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BOUNDARY.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39082" y="1801787"/>
            <a:ext cx="3392170" cy="1928495"/>
            <a:chOff x="4339082" y="1801787"/>
            <a:chExt cx="3392170" cy="19284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9082" y="1801787"/>
              <a:ext cx="3391547" cy="19281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88396" y="1828076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2987281" y="1829168"/>
                  </a:lnTo>
                  <a:lnTo>
                    <a:pt x="3027143" y="1826557"/>
                  </a:lnTo>
                  <a:lnTo>
                    <a:pt x="3066071" y="1818816"/>
                  </a:lnTo>
                  <a:lnTo>
                    <a:pt x="3104022" y="1805926"/>
                  </a:lnTo>
                  <a:lnTo>
                    <a:pt x="3139922" y="1788121"/>
                  </a:lnTo>
                  <a:lnTo>
                    <a:pt x="3173002" y="1765979"/>
                  </a:lnTo>
                  <a:lnTo>
                    <a:pt x="3202776" y="1739839"/>
                  </a:lnTo>
                  <a:lnTo>
                    <a:pt x="3229180" y="1709806"/>
                  </a:lnTo>
                  <a:lnTo>
                    <a:pt x="3251530" y="1676527"/>
                  </a:lnTo>
                  <a:lnTo>
                    <a:pt x="3269047" y="1640982"/>
                  </a:lnTo>
                  <a:lnTo>
                    <a:pt x="3269121" y="1640832"/>
                  </a:lnTo>
                  <a:lnTo>
                    <a:pt x="3281841" y="1603262"/>
                  </a:lnTo>
                  <a:lnTo>
                    <a:pt x="3289596" y="1564191"/>
                  </a:lnTo>
                  <a:lnTo>
                    <a:pt x="3292208" y="1524241"/>
                  </a:lnTo>
                  <a:lnTo>
                    <a:pt x="3292185" y="304926"/>
                  </a:lnTo>
                  <a:lnTo>
                    <a:pt x="3289591" y="265332"/>
                  </a:lnTo>
                  <a:lnTo>
                    <a:pt x="3281810" y="226261"/>
                  </a:lnTo>
                  <a:lnTo>
                    <a:pt x="3268966" y="188541"/>
                  </a:lnTo>
                  <a:lnTo>
                    <a:pt x="3251161" y="152641"/>
                  </a:lnTo>
                  <a:lnTo>
                    <a:pt x="3229019" y="119563"/>
                  </a:lnTo>
                  <a:lnTo>
                    <a:pt x="3202789" y="89690"/>
                  </a:lnTo>
                  <a:lnTo>
                    <a:pt x="3172846" y="63394"/>
                  </a:lnTo>
                  <a:lnTo>
                    <a:pt x="3139567" y="41046"/>
                  </a:lnTo>
                  <a:lnTo>
                    <a:pt x="3103872" y="23449"/>
                  </a:lnTo>
                  <a:lnTo>
                    <a:pt x="3066257" y="10715"/>
                  </a:lnTo>
                  <a:lnTo>
                    <a:pt x="3027226" y="2977"/>
                  </a:lnTo>
                  <a:lnTo>
                    <a:pt x="298728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88396" y="1828076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2987281" y="368"/>
                  </a:lnTo>
                  <a:lnTo>
                    <a:pt x="3027226" y="2977"/>
                  </a:lnTo>
                  <a:lnTo>
                    <a:pt x="3066257" y="10715"/>
                  </a:lnTo>
                  <a:lnTo>
                    <a:pt x="3103872" y="23449"/>
                  </a:lnTo>
                  <a:lnTo>
                    <a:pt x="3139567" y="41046"/>
                  </a:lnTo>
                  <a:lnTo>
                    <a:pt x="3172846" y="63394"/>
                  </a:lnTo>
                  <a:lnTo>
                    <a:pt x="3202789" y="89690"/>
                  </a:lnTo>
                  <a:lnTo>
                    <a:pt x="3229019" y="119563"/>
                  </a:lnTo>
                  <a:lnTo>
                    <a:pt x="3251161" y="152641"/>
                  </a:lnTo>
                  <a:lnTo>
                    <a:pt x="3268966" y="188541"/>
                  </a:lnTo>
                  <a:lnTo>
                    <a:pt x="3281810" y="226261"/>
                  </a:lnTo>
                  <a:lnTo>
                    <a:pt x="3289591" y="265332"/>
                  </a:lnTo>
                  <a:lnTo>
                    <a:pt x="3292208" y="305282"/>
                  </a:lnTo>
                  <a:lnTo>
                    <a:pt x="3292208" y="1524241"/>
                  </a:lnTo>
                  <a:lnTo>
                    <a:pt x="3289597" y="1564186"/>
                  </a:lnTo>
                  <a:lnTo>
                    <a:pt x="3281856" y="1603217"/>
                  </a:lnTo>
                  <a:lnTo>
                    <a:pt x="3269121" y="1640832"/>
                  </a:lnTo>
                  <a:lnTo>
                    <a:pt x="3251530" y="1676527"/>
                  </a:lnTo>
                  <a:lnTo>
                    <a:pt x="3229180" y="1709806"/>
                  </a:lnTo>
                  <a:lnTo>
                    <a:pt x="3202879" y="1739749"/>
                  </a:lnTo>
                  <a:lnTo>
                    <a:pt x="3173002" y="1765979"/>
                  </a:lnTo>
                  <a:lnTo>
                    <a:pt x="3139922" y="1788121"/>
                  </a:lnTo>
                  <a:lnTo>
                    <a:pt x="3104022" y="1805926"/>
                  </a:lnTo>
                  <a:lnTo>
                    <a:pt x="3066302" y="1818770"/>
                  </a:lnTo>
                  <a:lnTo>
                    <a:pt x="3027231" y="1826551"/>
                  </a:lnTo>
                  <a:lnTo>
                    <a:pt x="298728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555337" y="2425941"/>
            <a:ext cx="2773045" cy="633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1214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solidFill>
                  <a:srgbClr val="0FA266"/>
                </a:solidFill>
                <a:latin typeface="Calibri"/>
                <a:cs typeface="Calibri"/>
              </a:rPr>
              <a:t>K-</a:t>
            </a:r>
            <a:r>
              <a:rPr dirty="0" sz="1600" b="1">
                <a:solidFill>
                  <a:srgbClr val="0FA266"/>
                </a:solidFill>
                <a:latin typeface="Calibri"/>
                <a:cs typeface="Calibri"/>
              </a:rPr>
              <a:t>Nearest</a:t>
            </a:r>
            <a:r>
              <a:rPr dirty="0" sz="1600" spc="-6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FA266"/>
                </a:solidFill>
                <a:latin typeface="Calibri"/>
                <a:cs typeface="Calibri"/>
              </a:rPr>
              <a:t>Neighbors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60"/>
              </a:spcBef>
            </a:pP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CLASSIFIES</a:t>
            </a:r>
            <a:r>
              <a:rPr dirty="0" sz="12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AN</a:t>
            </a:r>
            <a:r>
              <a:rPr dirty="0" sz="12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APPLICANT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BY</a:t>
            </a:r>
            <a:r>
              <a:rPr dirty="0" sz="12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MAJORITY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LABEL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ITS</a:t>
            </a:r>
            <a:r>
              <a:rPr dirty="0" sz="12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NEAREST CASES.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96681" y="1801787"/>
            <a:ext cx="3392170" cy="1928495"/>
            <a:chOff x="7996681" y="1801787"/>
            <a:chExt cx="3392170" cy="19284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681" y="1801787"/>
              <a:ext cx="3391547" cy="192817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45995" y="1828076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2987281" y="1829168"/>
                  </a:lnTo>
                  <a:lnTo>
                    <a:pt x="3027143" y="1826557"/>
                  </a:lnTo>
                  <a:lnTo>
                    <a:pt x="3066071" y="1818816"/>
                  </a:lnTo>
                  <a:lnTo>
                    <a:pt x="3104022" y="1805926"/>
                  </a:lnTo>
                  <a:lnTo>
                    <a:pt x="3139922" y="1788121"/>
                  </a:lnTo>
                  <a:lnTo>
                    <a:pt x="3173002" y="1765979"/>
                  </a:lnTo>
                  <a:lnTo>
                    <a:pt x="3202776" y="1739839"/>
                  </a:lnTo>
                  <a:lnTo>
                    <a:pt x="3229180" y="1709806"/>
                  </a:lnTo>
                  <a:lnTo>
                    <a:pt x="3251530" y="1676527"/>
                  </a:lnTo>
                  <a:lnTo>
                    <a:pt x="3269047" y="1640982"/>
                  </a:lnTo>
                  <a:lnTo>
                    <a:pt x="3269121" y="1640832"/>
                  </a:lnTo>
                  <a:lnTo>
                    <a:pt x="3281841" y="1603262"/>
                  </a:lnTo>
                  <a:lnTo>
                    <a:pt x="3289596" y="1564191"/>
                  </a:lnTo>
                  <a:lnTo>
                    <a:pt x="3292208" y="1524241"/>
                  </a:lnTo>
                  <a:lnTo>
                    <a:pt x="3292185" y="304926"/>
                  </a:lnTo>
                  <a:lnTo>
                    <a:pt x="3289591" y="265332"/>
                  </a:lnTo>
                  <a:lnTo>
                    <a:pt x="3281810" y="226261"/>
                  </a:lnTo>
                  <a:lnTo>
                    <a:pt x="3268966" y="188541"/>
                  </a:lnTo>
                  <a:lnTo>
                    <a:pt x="3251161" y="152641"/>
                  </a:lnTo>
                  <a:lnTo>
                    <a:pt x="3229019" y="119563"/>
                  </a:lnTo>
                  <a:lnTo>
                    <a:pt x="3202789" y="89690"/>
                  </a:lnTo>
                  <a:lnTo>
                    <a:pt x="3172846" y="63394"/>
                  </a:lnTo>
                  <a:lnTo>
                    <a:pt x="3139567" y="41046"/>
                  </a:lnTo>
                  <a:lnTo>
                    <a:pt x="3103872" y="23449"/>
                  </a:lnTo>
                  <a:lnTo>
                    <a:pt x="3066257" y="10715"/>
                  </a:lnTo>
                  <a:lnTo>
                    <a:pt x="3027226" y="2977"/>
                  </a:lnTo>
                  <a:lnTo>
                    <a:pt x="298728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45995" y="1828076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2987281" y="368"/>
                  </a:lnTo>
                  <a:lnTo>
                    <a:pt x="3027226" y="2977"/>
                  </a:lnTo>
                  <a:lnTo>
                    <a:pt x="3066257" y="10715"/>
                  </a:lnTo>
                  <a:lnTo>
                    <a:pt x="3103872" y="23449"/>
                  </a:lnTo>
                  <a:lnTo>
                    <a:pt x="3139567" y="41046"/>
                  </a:lnTo>
                  <a:lnTo>
                    <a:pt x="3172846" y="63394"/>
                  </a:lnTo>
                  <a:lnTo>
                    <a:pt x="3202789" y="89690"/>
                  </a:lnTo>
                  <a:lnTo>
                    <a:pt x="3229019" y="119563"/>
                  </a:lnTo>
                  <a:lnTo>
                    <a:pt x="3251161" y="152641"/>
                  </a:lnTo>
                  <a:lnTo>
                    <a:pt x="3268966" y="188541"/>
                  </a:lnTo>
                  <a:lnTo>
                    <a:pt x="3281810" y="226261"/>
                  </a:lnTo>
                  <a:lnTo>
                    <a:pt x="3289591" y="265332"/>
                  </a:lnTo>
                  <a:lnTo>
                    <a:pt x="3292208" y="305282"/>
                  </a:lnTo>
                  <a:lnTo>
                    <a:pt x="3292208" y="1524241"/>
                  </a:lnTo>
                  <a:lnTo>
                    <a:pt x="3289597" y="1564186"/>
                  </a:lnTo>
                  <a:lnTo>
                    <a:pt x="3281856" y="1603217"/>
                  </a:lnTo>
                  <a:lnTo>
                    <a:pt x="3269121" y="1640832"/>
                  </a:lnTo>
                  <a:lnTo>
                    <a:pt x="3251530" y="1676527"/>
                  </a:lnTo>
                  <a:lnTo>
                    <a:pt x="3229180" y="1709806"/>
                  </a:lnTo>
                  <a:lnTo>
                    <a:pt x="3202879" y="1739749"/>
                  </a:lnTo>
                  <a:lnTo>
                    <a:pt x="3173002" y="1765979"/>
                  </a:lnTo>
                  <a:lnTo>
                    <a:pt x="3139922" y="1788121"/>
                  </a:lnTo>
                  <a:lnTo>
                    <a:pt x="3104022" y="1805926"/>
                  </a:lnTo>
                  <a:lnTo>
                    <a:pt x="3066302" y="1818770"/>
                  </a:lnTo>
                  <a:lnTo>
                    <a:pt x="3027231" y="1826551"/>
                  </a:lnTo>
                  <a:lnTo>
                    <a:pt x="298728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212937" y="2425941"/>
            <a:ext cx="2821940" cy="633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847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56433"/>
                </a:solidFill>
                <a:latin typeface="Calibri"/>
                <a:cs typeface="Calibri"/>
              </a:rPr>
              <a:t>Support</a:t>
            </a:r>
            <a:r>
              <a:rPr dirty="0" sz="1600" spc="-4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156433"/>
                </a:solidFill>
                <a:latin typeface="Calibri"/>
                <a:cs typeface="Calibri"/>
              </a:rPr>
              <a:t>Vector</a:t>
            </a:r>
            <a:r>
              <a:rPr dirty="0" sz="1600" spc="-3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56433"/>
                </a:solidFill>
                <a:latin typeface="Calibri"/>
                <a:cs typeface="Calibri"/>
              </a:rPr>
              <a:t>Machine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60"/>
              </a:spcBef>
            </a:pP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FINDS</a:t>
            </a:r>
            <a:r>
              <a:rPr dirty="0" sz="12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BOUNDARY</a:t>
            </a:r>
            <a:r>
              <a:rPr dirty="0" sz="12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A2015"/>
                </a:solidFill>
                <a:latin typeface="Calibri"/>
                <a:cs typeface="Calibri"/>
              </a:rPr>
              <a:t>THAT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BEST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 SEPARATES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TWO</a:t>
            </a:r>
            <a:r>
              <a:rPr dirty="0" sz="12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CLASSES.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1481" y="3904906"/>
            <a:ext cx="3392170" cy="1928495"/>
            <a:chOff x="681481" y="3904906"/>
            <a:chExt cx="3392170" cy="192849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481" y="3904906"/>
              <a:ext cx="3391547" cy="192817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0796" y="3931195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7" y="1829168"/>
                  </a:lnTo>
                  <a:lnTo>
                    <a:pt x="2987281" y="1829168"/>
                  </a:lnTo>
                  <a:lnTo>
                    <a:pt x="3027143" y="1826557"/>
                  </a:lnTo>
                  <a:lnTo>
                    <a:pt x="3066071" y="1818816"/>
                  </a:lnTo>
                  <a:lnTo>
                    <a:pt x="3104022" y="1805926"/>
                  </a:lnTo>
                  <a:lnTo>
                    <a:pt x="3139922" y="1788121"/>
                  </a:lnTo>
                  <a:lnTo>
                    <a:pt x="3173002" y="1765979"/>
                  </a:lnTo>
                  <a:lnTo>
                    <a:pt x="3202776" y="1739839"/>
                  </a:lnTo>
                  <a:lnTo>
                    <a:pt x="3229180" y="1709806"/>
                  </a:lnTo>
                  <a:lnTo>
                    <a:pt x="3251530" y="1676527"/>
                  </a:lnTo>
                  <a:lnTo>
                    <a:pt x="3269047" y="1640982"/>
                  </a:lnTo>
                  <a:lnTo>
                    <a:pt x="3281841" y="1603262"/>
                  </a:lnTo>
                  <a:lnTo>
                    <a:pt x="3289596" y="1564191"/>
                  </a:lnTo>
                  <a:lnTo>
                    <a:pt x="3292208" y="1524241"/>
                  </a:lnTo>
                  <a:lnTo>
                    <a:pt x="3292185" y="304926"/>
                  </a:lnTo>
                  <a:lnTo>
                    <a:pt x="3289591" y="265332"/>
                  </a:lnTo>
                  <a:lnTo>
                    <a:pt x="3281810" y="226261"/>
                  </a:lnTo>
                  <a:lnTo>
                    <a:pt x="3268966" y="188541"/>
                  </a:lnTo>
                  <a:lnTo>
                    <a:pt x="3251161" y="152641"/>
                  </a:lnTo>
                  <a:lnTo>
                    <a:pt x="3229019" y="119563"/>
                  </a:lnTo>
                  <a:lnTo>
                    <a:pt x="3202789" y="89690"/>
                  </a:lnTo>
                  <a:lnTo>
                    <a:pt x="3172846" y="63394"/>
                  </a:lnTo>
                  <a:lnTo>
                    <a:pt x="3139566" y="41046"/>
                  </a:lnTo>
                  <a:lnTo>
                    <a:pt x="3103872" y="23449"/>
                  </a:lnTo>
                  <a:lnTo>
                    <a:pt x="3066257" y="10715"/>
                  </a:lnTo>
                  <a:lnTo>
                    <a:pt x="3027226" y="2977"/>
                  </a:lnTo>
                  <a:lnTo>
                    <a:pt x="298728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0796" y="3931195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2987281" y="368"/>
                  </a:lnTo>
                  <a:lnTo>
                    <a:pt x="3027226" y="2977"/>
                  </a:lnTo>
                  <a:lnTo>
                    <a:pt x="3066257" y="10715"/>
                  </a:lnTo>
                  <a:lnTo>
                    <a:pt x="3103872" y="23449"/>
                  </a:lnTo>
                  <a:lnTo>
                    <a:pt x="3139566" y="41046"/>
                  </a:lnTo>
                  <a:lnTo>
                    <a:pt x="3172846" y="63394"/>
                  </a:lnTo>
                  <a:lnTo>
                    <a:pt x="3202789" y="89690"/>
                  </a:lnTo>
                  <a:lnTo>
                    <a:pt x="3229019" y="119563"/>
                  </a:lnTo>
                  <a:lnTo>
                    <a:pt x="3251161" y="152641"/>
                  </a:lnTo>
                  <a:lnTo>
                    <a:pt x="3268966" y="188541"/>
                  </a:lnTo>
                  <a:lnTo>
                    <a:pt x="3281810" y="226261"/>
                  </a:lnTo>
                  <a:lnTo>
                    <a:pt x="3289591" y="265332"/>
                  </a:lnTo>
                  <a:lnTo>
                    <a:pt x="3292208" y="305282"/>
                  </a:lnTo>
                  <a:lnTo>
                    <a:pt x="3292208" y="1524241"/>
                  </a:lnTo>
                  <a:lnTo>
                    <a:pt x="3289597" y="1564186"/>
                  </a:lnTo>
                  <a:lnTo>
                    <a:pt x="3281856" y="1603217"/>
                  </a:lnTo>
                  <a:lnTo>
                    <a:pt x="3269121" y="1640832"/>
                  </a:lnTo>
                  <a:lnTo>
                    <a:pt x="3251530" y="1676527"/>
                  </a:lnTo>
                  <a:lnTo>
                    <a:pt x="3229180" y="1709806"/>
                  </a:lnTo>
                  <a:lnTo>
                    <a:pt x="3202879" y="1739749"/>
                  </a:lnTo>
                  <a:lnTo>
                    <a:pt x="3173002" y="1765979"/>
                  </a:lnTo>
                  <a:lnTo>
                    <a:pt x="3139922" y="1788121"/>
                  </a:lnTo>
                  <a:lnTo>
                    <a:pt x="3104022" y="1805926"/>
                  </a:lnTo>
                  <a:lnTo>
                    <a:pt x="3066302" y="1818770"/>
                  </a:lnTo>
                  <a:lnTo>
                    <a:pt x="3027231" y="1826551"/>
                  </a:lnTo>
                  <a:lnTo>
                    <a:pt x="2987281" y="1829168"/>
                  </a:lnTo>
                  <a:lnTo>
                    <a:pt x="304927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97737" y="4529061"/>
            <a:ext cx="2414905" cy="633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694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FA266"/>
                </a:solidFill>
                <a:latin typeface="Calibri"/>
                <a:cs typeface="Calibri"/>
              </a:rPr>
              <a:t>Decision</a:t>
            </a:r>
            <a:r>
              <a:rPr dirty="0" sz="1600" spc="-6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0FA266"/>
                </a:solidFill>
                <a:latin typeface="Calibri"/>
                <a:cs typeface="Calibri"/>
              </a:rPr>
              <a:t>Tree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60"/>
              </a:spcBef>
            </a:pP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SPLITS</a:t>
            </a:r>
            <a:r>
              <a:rPr dirty="0" sz="1200" spc="-7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0A2015"/>
                </a:solidFill>
                <a:latin typeface="Calibri"/>
                <a:cs typeface="Calibri"/>
              </a:rPr>
              <a:t>DATA</a:t>
            </a:r>
            <a:r>
              <a:rPr dirty="0" sz="12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INTO</a:t>
            </a:r>
            <a:r>
              <a:rPr dirty="0" sz="1200" spc="-6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RULES</a:t>
            </a:r>
            <a:r>
              <a:rPr dirty="0" sz="12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TO</a:t>
            </a:r>
            <a:r>
              <a:rPr dirty="0" sz="12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REACH</a:t>
            </a:r>
            <a:r>
              <a:rPr dirty="0" sz="1200" spc="-5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AN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APPROVE</a:t>
            </a:r>
            <a:r>
              <a:rPr dirty="0" sz="12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/</a:t>
            </a:r>
            <a:r>
              <a:rPr dirty="0" sz="12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REJECT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 DECISION.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39082" y="3904906"/>
            <a:ext cx="3392170" cy="1928495"/>
            <a:chOff x="4339082" y="3904906"/>
            <a:chExt cx="3392170" cy="192849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9082" y="3904906"/>
              <a:ext cx="3391547" cy="19281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388396" y="3931195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2987281" y="1829168"/>
                  </a:lnTo>
                  <a:lnTo>
                    <a:pt x="3027143" y="1826557"/>
                  </a:lnTo>
                  <a:lnTo>
                    <a:pt x="3066071" y="1818816"/>
                  </a:lnTo>
                  <a:lnTo>
                    <a:pt x="3104022" y="1805926"/>
                  </a:lnTo>
                  <a:lnTo>
                    <a:pt x="3139922" y="1788121"/>
                  </a:lnTo>
                  <a:lnTo>
                    <a:pt x="3173002" y="1765979"/>
                  </a:lnTo>
                  <a:lnTo>
                    <a:pt x="3202776" y="1739839"/>
                  </a:lnTo>
                  <a:lnTo>
                    <a:pt x="3229180" y="1709806"/>
                  </a:lnTo>
                  <a:lnTo>
                    <a:pt x="3251530" y="1676527"/>
                  </a:lnTo>
                  <a:lnTo>
                    <a:pt x="3269047" y="1640982"/>
                  </a:lnTo>
                  <a:lnTo>
                    <a:pt x="3269121" y="1640832"/>
                  </a:lnTo>
                  <a:lnTo>
                    <a:pt x="3281841" y="1603262"/>
                  </a:lnTo>
                  <a:lnTo>
                    <a:pt x="3289596" y="1564191"/>
                  </a:lnTo>
                  <a:lnTo>
                    <a:pt x="3292208" y="1524241"/>
                  </a:lnTo>
                  <a:lnTo>
                    <a:pt x="3292185" y="304926"/>
                  </a:lnTo>
                  <a:lnTo>
                    <a:pt x="3289591" y="265332"/>
                  </a:lnTo>
                  <a:lnTo>
                    <a:pt x="3281810" y="226261"/>
                  </a:lnTo>
                  <a:lnTo>
                    <a:pt x="3268966" y="188541"/>
                  </a:lnTo>
                  <a:lnTo>
                    <a:pt x="3251161" y="152641"/>
                  </a:lnTo>
                  <a:lnTo>
                    <a:pt x="3229019" y="119563"/>
                  </a:lnTo>
                  <a:lnTo>
                    <a:pt x="3202789" y="89690"/>
                  </a:lnTo>
                  <a:lnTo>
                    <a:pt x="3172846" y="63394"/>
                  </a:lnTo>
                  <a:lnTo>
                    <a:pt x="3139567" y="41046"/>
                  </a:lnTo>
                  <a:lnTo>
                    <a:pt x="3103872" y="23449"/>
                  </a:lnTo>
                  <a:lnTo>
                    <a:pt x="3066257" y="10715"/>
                  </a:lnTo>
                  <a:lnTo>
                    <a:pt x="3027226" y="2977"/>
                  </a:lnTo>
                  <a:lnTo>
                    <a:pt x="298728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388396" y="3931195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2987281" y="368"/>
                  </a:lnTo>
                  <a:lnTo>
                    <a:pt x="3027226" y="2977"/>
                  </a:lnTo>
                  <a:lnTo>
                    <a:pt x="3066257" y="10715"/>
                  </a:lnTo>
                  <a:lnTo>
                    <a:pt x="3103872" y="23449"/>
                  </a:lnTo>
                  <a:lnTo>
                    <a:pt x="3139567" y="41046"/>
                  </a:lnTo>
                  <a:lnTo>
                    <a:pt x="3172846" y="63394"/>
                  </a:lnTo>
                  <a:lnTo>
                    <a:pt x="3202789" y="89690"/>
                  </a:lnTo>
                  <a:lnTo>
                    <a:pt x="3229019" y="119563"/>
                  </a:lnTo>
                  <a:lnTo>
                    <a:pt x="3251161" y="152641"/>
                  </a:lnTo>
                  <a:lnTo>
                    <a:pt x="3268966" y="188541"/>
                  </a:lnTo>
                  <a:lnTo>
                    <a:pt x="3281810" y="226261"/>
                  </a:lnTo>
                  <a:lnTo>
                    <a:pt x="3289591" y="265332"/>
                  </a:lnTo>
                  <a:lnTo>
                    <a:pt x="3292208" y="305282"/>
                  </a:lnTo>
                  <a:lnTo>
                    <a:pt x="3292208" y="1524241"/>
                  </a:lnTo>
                  <a:lnTo>
                    <a:pt x="3289597" y="1564186"/>
                  </a:lnTo>
                  <a:lnTo>
                    <a:pt x="3281856" y="1603217"/>
                  </a:lnTo>
                  <a:lnTo>
                    <a:pt x="3269121" y="1640832"/>
                  </a:lnTo>
                  <a:lnTo>
                    <a:pt x="3251530" y="1676527"/>
                  </a:lnTo>
                  <a:lnTo>
                    <a:pt x="3229180" y="1709806"/>
                  </a:lnTo>
                  <a:lnTo>
                    <a:pt x="3202879" y="1739749"/>
                  </a:lnTo>
                  <a:lnTo>
                    <a:pt x="3173002" y="1765979"/>
                  </a:lnTo>
                  <a:lnTo>
                    <a:pt x="3139922" y="1788121"/>
                  </a:lnTo>
                  <a:lnTo>
                    <a:pt x="3104022" y="1805926"/>
                  </a:lnTo>
                  <a:lnTo>
                    <a:pt x="3066302" y="1818770"/>
                  </a:lnTo>
                  <a:lnTo>
                    <a:pt x="3027231" y="1826551"/>
                  </a:lnTo>
                  <a:lnTo>
                    <a:pt x="298728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555337" y="4529061"/>
            <a:ext cx="2446655" cy="633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432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56433"/>
                </a:solidFill>
                <a:latin typeface="Calibri"/>
                <a:cs typeface="Calibri"/>
              </a:rPr>
              <a:t>Random</a:t>
            </a:r>
            <a:r>
              <a:rPr dirty="0" sz="1600" spc="-8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56433"/>
                </a:solidFill>
                <a:latin typeface="Calibri"/>
                <a:cs typeface="Calibri"/>
              </a:rPr>
              <a:t>Forest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60"/>
              </a:spcBef>
            </a:pP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COMBINES</a:t>
            </a:r>
            <a:r>
              <a:rPr dirty="0" sz="12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MANY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DECISION</a:t>
            </a:r>
            <a:r>
              <a:rPr dirty="0" sz="12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TREES</a:t>
            </a:r>
            <a:r>
              <a:rPr dirty="0" sz="12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A2015"/>
                </a:solidFill>
                <a:latin typeface="Calibri"/>
                <a:cs typeface="Calibri"/>
              </a:rPr>
              <a:t>FOR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STRONGER,</a:t>
            </a:r>
            <a:r>
              <a:rPr dirty="0" sz="12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A2015"/>
                </a:solidFill>
                <a:latin typeface="Calibri"/>
                <a:cs typeface="Calibri"/>
              </a:rPr>
              <a:t>STABLE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PREDICTIONS.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996681" y="3904906"/>
            <a:ext cx="3392170" cy="1928495"/>
            <a:chOff x="7996681" y="3904906"/>
            <a:chExt cx="3392170" cy="192849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6681" y="3904906"/>
              <a:ext cx="3391547" cy="192817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045995" y="3931195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2987281" y="1829168"/>
                  </a:lnTo>
                  <a:lnTo>
                    <a:pt x="3027143" y="1826557"/>
                  </a:lnTo>
                  <a:lnTo>
                    <a:pt x="3066071" y="1818816"/>
                  </a:lnTo>
                  <a:lnTo>
                    <a:pt x="3104022" y="1805926"/>
                  </a:lnTo>
                  <a:lnTo>
                    <a:pt x="3139922" y="1788121"/>
                  </a:lnTo>
                  <a:lnTo>
                    <a:pt x="3173002" y="1765979"/>
                  </a:lnTo>
                  <a:lnTo>
                    <a:pt x="3202776" y="1739839"/>
                  </a:lnTo>
                  <a:lnTo>
                    <a:pt x="3229180" y="1709806"/>
                  </a:lnTo>
                  <a:lnTo>
                    <a:pt x="3251530" y="1676527"/>
                  </a:lnTo>
                  <a:lnTo>
                    <a:pt x="3269047" y="1640982"/>
                  </a:lnTo>
                  <a:lnTo>
                    <a:pt x="3269121" y="1640832"/>
                  </a:lnTo>
                  <a:lnTo>
                    <a:pt x="3281841" y="1603262"/>
                  </a:lnTo>
                  <a:lnTo>
                    <a:pt x="3289596" y="1564191"/>
                  </a:lnTo>
                  <a:lnTo>
                    <a:pt x="3292208" y="1524241"/>
                  </a:lnTo>
                  <a:lnTo>
                    <a:pt x="3292185" y="304926"/>
                  </a:lnTo>
                  <a:lnTo>
                    <a:pt x="3289591" y="265332"/>
                  </a:lnTo>
                  <a:lnTo>
                    <a:pt x="3281810" y="226261"/>
                  </a:lnTo>
                  <a:lnTo>
                    <a:pt x="3268966" y="188541"/>
                  </a:lnTo>
                  <a:lnTo>
                    <a:pt x="3251161" y="152641"/>
                  </a:lnTo>
                  <a:lnTo>
                    <a:pt x="3229019" y="119563"/>
                  </a:lnTo>
                  <a:lnTo>
                    <a:pt x="3202789" y="89690"/>
                  </a:lnTo>
                  <a:lnTo>
                    <a:pt x="3172846" y="63394"/>
                  </a:lnTo>
                  <a:lnTo>
                    <a:pt x="3139567" y="41046"/>
                  </a:lnTo>
                  <a:lnTo>
                    <a:pt x="3103872" y="23449"/>
                  </a:lnTo>
                  <a:lnTo>
                    <a:pt x="3066257" y="10715"/>
                  </a:lnTo>
                  <a:lnTo>
                    <a:pt x="3027226" y="2977"/>
                  </a:lnTo>
                  <a:lnTo>
                    <a:pt x="298728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045995" y="3931195"/>
              <a:ext cx="3292475" cy="1829435"/>
            </a:xfrm>
            <a:custGeom>
              <a:avLst/>
              <a:gdLst/>
              <a:ahLst/>
              <a:cxnLst/>
              <a:rect l="l" t="t" r="r" b="b"/>
              <a:pathLst>
                <a:path w="329247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2987281" y="368"/>
                  </a:lnTo>
                  <a:lnTo>
                    <a:pt x="3027226" y="2977"/>
                  </a:lnTo>
                  <a:lnTo>
                    <a:pt x="3066257" y="10715"/>
                  </a:lnTo>
                  <a:lnTo>
                    <a:pt x="3103872" y="23449"/>
                  </a:lnTo>
                  <a:lnTo>
                    <a:pt x="3139567" y="41046"/>
                  </a:lnTo>
                  <a:lnTo>
                    <a:pt x="3172846" y="63394"/>
                  </a:lnTo>
                  <a:lnTo>
                    <a:pt x="3202789" y="89690"/>
                  </a:lnTo>
                  <a:lnTo>
                    <a:pt x="3229019" y="119563"/>
                  </a:lnTo>
                  <a:lnTo>
                    <a:pt x="3251161" y="152641"/>
                  </a:lnTo>
                  <a:lnTo>
                    <a:pt x="3268966" y="188541"/>
                  </a:lnTo>
                  <a:lnTo>
                    <a:pt x="3281810" y="226261"/>
                  </a:lnTo>
                  <a:lnTo>
                    <a:pt x="3289591" y="265332"/>
                  </a:lnTo>
                  <a:lnTo>
                    <a:pt x="3292208" y="305282"/>
                  </a:lnTo>
                  <a:lnTo>
                    <a:pt x="3292208" y="1524241"/>
                  </a:lnTo>
                  <a:lnTo>
                    <a:pt x="3289597" y="1564186"/>
                  </a:lnTo>
                  <a:lnTo>
                    <a:pt x="3281856" y="1603217"/>
                  </a:lnTo>
                  <a:lnTo>
                    <a:pt x="3269121" y="1640832"/>
                  </a:lnTo>
                  <a:lnTo>
                    <a:pt x="3251530" y="1676527"/>
                  </a:lnTo>
                  <a:lnTo>
                    <a:pt x="3229180" y="1709806"/>
                  </a:lnTo>
                  <a:lnTo>
                    <a:pt x="3202879" y="1739749"/>
                  </a:lnTo>
                  <a:lnTo>
                    <a:pt x="3173002" y="1765979"/>
                  </a:lnTo>
                  <a:lnTo>
                    <a:pt x="3139922" y="1788121"/>
                  </a:lnTo>
                  <a:lnTo>
                    <a:pt x="3104022" y="1805926"/>
                  </a:lnTo>
                  <a:lnTo>
                    <a:pt x="3066302" y="1818770"/>
                  </a:lnTo>
                  <a:lnTo>
                    <a:pt x="3027231" y="1826551"/>
                  </a:lnTo>
                  <a:lnTo>
                    <a:pt x="298728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212937" y="4529061"/>
            <a:ext cx="2841625" cy="633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1747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0FA266"/>
                </a:solidFill>
                <a:latin typeface="Calibri"/>
                <a:cs typeface="Calibri"/>
              </a:rPr>
              <a:t>AdaBoost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60"/>
              </a:spcBef>
            </a:pP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BOOSTS</a:t>
            </a:r>
            <a:r>
              <a:rPr dirty="0" sz="12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WEAK</a:t>
            </a:r>
            <a:r>
              <a:rPr dirty="0" sz="12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DECISION</a:t>
            </a:r>
            <a:r>
              <a:rPr dirty="0" sz="12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TREES</a:t>
            </a:r>
            <a:r>
              <a:rPr dirty="0" sz="12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BY</a:t>
            </a:r>
            <a:r>
              <a:rPr dirty="0" sz="12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FOCUSING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ON</a:t>
            </a:r>
            <a:r>
              <a:rPr dirty="0" sz="12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A2015"/>
                </a:solidFill>
                <a:latin typeface="Calibri"/>
                <a:cs typeface="Calibri"/>
              </a:rPr>
              <a:t>HARD</a:t>
            </a:r>
            <a:r>
              <a:rPr dirty="0" sz="12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A2015"/>
                </a:solidFill>
                <a:latin typeface="Calibri"/>
                <a:cs typeface="Calibri"/>
              </a:rPr>
              <a:t>CASES.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Hyperparameter</a:t>
            </a:r>
            <a:r>
              <a:rPr dirty="0" spc="-85"/>
              <a:t> </a:t>
            </a:r>
            <a:r>
              <a:rPr dirty="0" spc="-10"/>
              <a:t>Tuning</a:t>
            </a:r>
            <a:r>
              <a:rPr dirty="0" spc="-85"/>
              <a:t> </a:t>
            </a:r>
            <a:r>
              <a:rPr dirty="0"/>
              <a:t>(Best</a:t>
            </a:r>
            <a:r>
              <a:rPr dirty="0" spc="-80"/>
              <a:t> </a:t>
            </a:r>
            <a:r>
              <a:rPr dirty="0" spc="-25"/>
              <a:t>Parameters</a:t>
            </a:r>
            <a:r>
              <a:rPr dirty="0" spc="-80"/>
              <a:t> </a:t>
            </a:r>
            <a:r>
              <a:rPr dirty="0"/>
              <a:t>-</a:t>
            </a:r>
            <a:r>
              <a:rPr dirty="0" spc="-85"/>
              <a:t> </a:t>
            </a:r>
            <a:r>
              <a:rPr dirty="0" spc="-10"/>
              <a:t>GridSearchCV)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6121" y="1823401"/>
          <a:ext cx="10785475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7440"/>
                <a:gridCol w="6400800"/>
                <a:gridCol w="1920240"/>
              </a:tblGrid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433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</a:t>
                      </a:r>
                      <a:r>
                        <a:rPr dirty="0" sz="13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43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</a:t>
                      </a:r>
                      <a:r>
                        <a:rPr dirty="0" sz="13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CV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4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Logistic</a:t>
                      </a:r>
                      <a:r>
                        <a:rPr dirty="0" sz="1200" spc="-6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Regression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C=1,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solver=lbfgs,</a:t>
                      </a: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class_weight=None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F1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0.761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 spc="-2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KNN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DE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n_neighbors=11,</a:t>
                      </a:r>
                      <a:r>
                        <a:rPr dirty="0" sz="1200" spc="-2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weights=distance,</a:t>
                      </a:r>
                      <a:r>
                        <a:rPr dirty="0" sz="1200" spc="-1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p=1,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metric=minkowski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DE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Acc</a:t>
                      </a:r>
                      <a:r>
                        <a:rPr dirty="0" sz="1200" spc="-3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0.901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D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 spc="-2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SVM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kernel=rbf,</a:t>
                      </a:r>
                      <a:r>
                        <a:rPr dirty="0" sz="1200" spc="-3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C=1,</a:t>
                      </a:r>
                      <a:r>
                        <a:rPr dirty="0" sz="1200" spc="-2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gamma=scale,</a:t>
                      </a:r>
                      <a:r>
                        <a:rPr dirty="0" sz="1200" spc="-2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class_weight=None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F1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tuned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  <a:r>
                        <a:rPr dirty="0" sz="1200" spc="-5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DE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criterion=gini,</a:t>
                      </a:r>
                      <a:r>
                        <a:rPr dirty="0" sz="1200" spc="2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max_depth=10,</a:t>
                      </a:r>
                      <a:r>
                        <a:rPr dirty="0" sz="1200" spc="3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min_samples_leaf=5,</a:t>
                      </a:r>
                      <a:r>
                        <a:rPr dirty="0" sz="1200" spc="2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min_samples_split=2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DE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F1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0.803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D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Random</a:t>
                      </a:r>
                      <a:r>
                        <a:rPr dirty="0" sz="1200" spc="-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374140">
                        <a:lnSpc>
                          <a:spcPts val="1200"/>
                        </a:lnSpc>
                        <a:spcBef>
                          <a:spcPts val="300"/>
                        </a:spcBef>
                      </a:pP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n_estimators=200,</a:t>
                      </a:r>
                      <a:r>
                        <a:rPr dirty="0" sz="1200" spc="3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max_depth=None,</a:t>
                      </a:r>
                      <a:r>
                        <a:rPr dirty="0" sz="1200" spc="3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max_features=sqrt,</a:t>
                      </a:r>
                      <a:r>
                        <a:rPr dirty="0" sz="1200" spc="5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min_samples_leaf=1, min_samples_split=10,</a:t>
                      </a:r>
                      <a:r>
                        <a:rPr dirty="0" sz="1200" spc="95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class_weight=balanced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20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F1</a:t>
                      </a:r>
                      <a:r>
                        <a:rPr dirty="0" sz="1200" spc="-10">
                          <a:solidFill>
                            <a:srgbClr val="0A2015"/>
                          </a:solidFill>
                          <a:latin typeface="Calibri"/>
                          <a:cs typeface="Calibri"/>
                        </a:rPr>
                        <a:t> 0.827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-55"/>
              <a:t> </a:t>
            </a:r>
            <a:r>
              <a:rPr dirty="0" spc="-20"/>
              <a:t>Performance</a:t>
            </a:r>
            <a:r>
              <a:rPr dirty="0" spc="-50"/>
              <a:t> </a:t>
            </a:r>
            <a:r>
              <a:rPr dirty="0" spc="-10"/>
              <a:t>Comparison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78419" y="1952180"/>
            <a:ext cx="14319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56433"/>
                </a:solidFill>
                <a:latin typeface="Calibri"/>
                <a:cs typeface="Calibri"/>
              </a:rPr>
              <a:t>Random</a:t>
            </a:r>
            <a:r>
              <a:rPr dirty="0" sz="1500" spc="-5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56433"/>
                </a:solidFill>
                <a:latin typeface="Calibri"/>
                <a:cs typeface="Calibri"/>
              </a:rPr>
              <a:t>Forest</a:t>
            </a:r>
            <a:r>
              <a:rPr dirty="0" sz="1500" spc="-5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56433"/>
                </a:solidFill>
                <a:latin typeface="Segoe UI Symbol"/>
                <a:cs typeface="Segoe UI Symbol"/>
              </a:rPr>
              <a:t>★</a:t>
            </a:r>
            <a:endParaRPr sz="1500">
              <a:latin typeface="Segoe UI Symbol"/>
              <a:cs typeface="Segoe UI Symbo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16921" y="1948675"/>
            <a:ext cx="6195060" cy="464820"/>
            <a:chOff x="3616921" y="1948675"/>
            <a:chExt cx="6195060" cy="4648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6921" y="1948675"/>
              <a:ext cx="6194882" cy="4644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56876" y="1965604"/>
              <a:ext cx="6115050" cy="384810"/>
            </a:xfrm>
            <a:custGeom>
              <a:avLst/>
              <a:gdLst/>
              <a:ahLst/>
              <a:cxnLst/>
              <a:rect l="l" t="t" r="r" b="b"/>
              <a:pathLst>
                <a:path w="6115050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6050521" y="384479"/>
                  </a:lnTo>
                  <a:lnTo>
                    <a:pt x="6089558" y="371115"/>
                  </a:lnTo>
                  <a:lnTo>
                    <a:pt x="6112444" y="336954"/>
                  </a:lnTo>
                  <a:lnTo>
                    <a:pt x="6114605" y="320395"/>
                  </a:lnTo>
                  <a:lnTo>
                    <a:pt x="6114581" y="64071"/>
                  </a:lnTo>
                  <a:lnTo>
                    <a:pt x="6101246" y="25397"/>
                  </a:lnTo>
                  <a:lnTo>
                    <a:pt x="6067085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FA2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340175" y="1952180"/>
            <a:ext cx="5988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56433"/>
                </a:solidFill>
                <a:latin typeface="Calibri"/>
                <a:cs typeface="Calibri"/>
              </a:rPr>
              <a:t>92.87%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1784" y="2820860"/>
            <a:ext cx="10788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2015"/>
                </a:solidFill>
                <a:latin typeface="Calibri"/>
                <a:cs typeface="Calibri"/>
              </a:rPr>
              <a:t>Decision</a:t>
            </a:r>
            <a:r>
              <a:rPr dirty="0" sz="1500" spc="-50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0A2015"/>
                </a:solidFill>
                <a:latin typeface="Calibri"/>
                <a:cs typeface="Calibri"/>
              </a:rPr>
              <a:t>Tree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17277" y="2817355"/>
            <a:ext cx="6146165" cy="464820"/>
            <a:chOff x="3617277" y="2817355"/>
            <a:chExt cx="6146165" cy="46482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7277" y="2817355"/>
              <a:ext cx="6145555" cy="4644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7244" y="2834284"/>
              <a:ext cx="6065520" cy="384810"/>
            </a:xfrm>
            <a:custGeom>
              <a:avLst/>
              <a:gdLst/>
              <a:ahLst/>
              <a:cxnLst/>
              <a:rect l="l" t="t" r="r" b="b"/>
              <a:pathLst>
                <a:path w="6065520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320395"/>
                  </a:lnTo>
                  <a:lnTo>
                    <a:pt x="538" y="328743"/>
                  </a:lnTo>
                  <a:lnTo>
                    <a:pt x="18735" y="365620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6001194" y="384479"/>
                  </a:lnTo>
                  <a:lnTo>
                    <a:pt x="6040231" y="371115"/>
                  </a:lnTo>
                  <a:lnTo>
                    <a:pt x="6063116" y="336954"/>
                  </a:lnTo>
                  <a:lnTo>
                    <a:pt x="6065278" y="320395"/>
                  </a:lnTo>
                  <a:lnTo>
                    <a:pt x="6065254" y="64071"/>
                  </a:lnTo>
                  <a:lnTo>
                    <a:pt x="6051913" y="25397"/>
                  </a:lnTo>
                  <a:lnTo>
                    <a:pt x="6017758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18B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290861" y="2820860"/>
            <a:ext cx="5988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375746"/>
                </a:solidFill>
                <a:latin typeface="Calibri"/>
                <a:cs typeface="Calibri"/>
              </a:rPr>
              <a:t>92.12%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6297" y="3689540"/>
            <a:ext cx="3924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0A2015"/>
                </a:solidFill>
                <a:latin typeface="Calibri"/>
                <a:cs typeface="Calibri"/>
              </a:rPr>
              <a:t>SVM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17277" y="3686035"/>
            <a:ext cx="6123305" cy="464820"/>
            <a:chOff x="3617277" y="3686035"/>
            <a:chExt cx="6123305" cy="46482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7277" y="3686035"/>
              <a:ext cx="6123241" cy="4644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57244" y="3702964"/>
              <a:ext cx="6043295" cy="384810"/>
            </a:xfrm>
            <a:custGeom>
              <a:avLst/>
              <a:gdLst/>
              <a:ahLst/>
              <a:cxnLst/>
              <a:rect l="l" t="t" r="r" b="b"/>
              <a:pathLst>
                <a:path w="604329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320395"/>
                  </a:lnTo>
                  <a:lnTo>
                    <a:pt x="538" y="328743"/>
                  </a:lnTo>
                  <a:lnTo>
                    <a:pt x="18735" y="365620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5978880" y="384479"/>
                  </a:lnTo>
                  <a:lnTo>
                    <a:pt x="6017912" y="371115"/>
                  </a:lnTo>
                  <a:lnTo>
                    <a:pt x="6040796" y="336954"/>
                  </a:lnTo>
                  <a:lnTo>
                    <a:pt x="6042952" y="320395"/>
                  </a:lnTo>
                  <a:lnTo>
                    <a:pt x="6042928" y="64071"/>
                  </a:lnTo>
                  <a:lnTo>
                    <a:pt x="6029594" y="25397"/>
                  </a:lnTo>
                  <a:lnTo>
                    <a:pt x="599543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18B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267822" y="3689540"/>
            <a:ext cx="5988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375746"/>
                </a:solidFill>
                <a:latin typeface="Calibri"/>
                <a:cs typeface="Calibri"/>
              </a:rPr>
              <a:t>91.78%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2419" y="4558220"/>
            <a:ext cx="3797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0A2015"/>
                </a:solidFill>
                <a:latin typeface="Calibri"/>
                <a:cs typeface="Calibri"/>
              </a:rPr>
              <a:t>KNN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17277" y="4554715"/>
            <a:ext cx="6028690" cy="464820"/>
            <a:chOff x="3617277" y="4554715"/>
            <a:chExt cx="6028690" cy="46482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7277" y="4554715"/>
              <a:ext cx="6028194" cy="4644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657244" y="4571644"/>
              <a:ext cx="5948045" cy="384810"/>
            </a:xfrm>
            <a:custGeom>
              <a:avLst/>
              <a:gdLst/>
              <a:ahLst/>
              <a:cxnLst/>
              <a:rect l="l" t="t" r="r" b="b"/>
              <a:pathLst>
                <a:path w="594804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320395"/>
                  </a:lnTo>
                  <a:lnTo>
                    <a:pt x="538" y="328743"/>
                  </a:lnTo>
                  <a:lnTo>
                    <a:pt x="18735" y="365620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5883833" y="384479"/>
                  </a:lnTo>
                  <a:lnTo>
                    <a:pt x="5922870" y="371115"/>
                  </a:lnTo>
                  <a:lnTo>
                    <a:pt x="5945755" y="336954"/>
                  </a:lnTo>
                  <a:lnTo>
                    <a:pt x="5947918" y="320395"/>
                  </a:lnTo>
                  <a:lnTo>
                    <a:pt x="5947894" y="64071"/>
                  </a:lnTo>
                  <a:lnTo>
                    <a:pt x="5934553" y="25397"/>
                  </a:lnTo>
                  <a:lnTo>
                    <a:pt x="5900397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18B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0173855" y="4558220"/>
            <a:ext cx="5988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375746"/>
                </a:solidFill>
                <a:latin typeface="Calibri"/>
                <a:cs typeface="Calibri"/>
              </a:rPr>
              <a:t>90.34%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9745" y="5426900"/>
            <a:ext cx="15030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A2015"/>
                </a:solidFill>
                <a:latin typeface="Calibri"/>
                <a:cs typeface="Calibri"/>
              </a:rPr>
              <a:t>Logistic</a:t>
            </a:r>
            <a:r>
              <a:rPr dirty="0" sz="1500" spc="-45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A2015"/>
                </a:solidFill>
                <a:latin typeface="Calibri"/>
                <a:cs typeface="Calibri"/>
              </a:rPr>
              <a:t>Regression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16921" y="5423395"/>
            <a:ext cx="6001385" cy="464820"/>
            <a:chOff x="3616921" y="5423395"/>
            <a:chExt cx="6001385" cy="46482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6921" y="5423395"/>
              <a:ext cx="6001194" cy="4644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56876" y="5440324"/>
              <a:ext cx="5921375" cy="384810"/>
            </a:xfrm>
            <a:custGeom>
              <a:avLst/>
              <a:gdLst/>
              <a:ahLst/>
              <a:cxnLst/>
              <a:rect l="l" t="t" r="r" b="b"/>
              <a:pathLst>
                <a:path w="59213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5856846" y="384479"/>
                  </a:lnTo>
                  <a:lnTo>
                    <a:pt x="5895883" y="371115"/>
                  </a:lnTo>
                  <a:lnTo>
                    <a:pt x="5918761" y="336954"/>
                  </a:lnTo>
                  <a:lnTo>
                    <a:pt x="5920917" y="320395"/>
                  </a:lnTo>
                  <a:lnTo>
                    <a:pt x="5920894" y="64071"/>
                  </a:lnTo>
                  <a:lnTo>
                    <a:pt x="5907565" y="25397"/>
                  </a:lnTo>
                  <a:lnTo>
                    <a:pt x="5873405" y="2516"/>
                  </a:lnTo>
                  <a:lnTo>
                    <a:pt x="5856846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18B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146144" y="5426900"/>
            <a:ext cx="5988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375746"/>
                </a:solidFill>
                <a:latin typeface="Calibri"/>
                <a:cs typeface="Calibri"/>
              </a:rPr>
              <a:t>89.93%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Best</a:t>
            </a:r>
            <a:r>
              <a:rPr dirty="0" spc="-95"/>
              <a:t> </a:t>
            </a:r>
            <a:r>
              <a:rPr dirty="0"/>
              <a:t>Model:</a:t>
            </a:r>
            <a:r>
              <a:rPr dirty="0" spc="-100"/>
              <a:t> </a:t>
            </a:r>
            <a:r>
              <a:rPr dirty="0"/>
              <a:t>Random</a:t>
            </a:r>
            <a:r>
              <a:rPr dirty="0" spc="-90"/>
              <a:t> </a:t>
            </a:r>
            <a:r>
              <a:rPr dirty="0" spc="-10"/>
              <a:t>Forest</a:t>
            </a:r>
            <a:r>
              <a:rPr dirty="0" spc="-95"/>
              <a:t> </a:t>
            </a:r>
            <a:r>
              <a:rPr dirty="0"/>
              <a:t>(TEST</a:t>
            </a:r>
            <a:r>
              <a:rPr dirty="0" spc="-95"/>
              <a:t> </a:t>
            </a:r>
            <a:r>
              <a:rPr dirty="0" spc="-20"/>
              <a:t>ACCURACY</a:t>
            </a:r>
            <a:r>
              <a:rPr dirty="0" spc="-95"/>
              <a:t> </a:t>
            </a:r>
            <a:r>
              <a:rPr dirty="0" spc="-10"/>
              <a:t>92.87%)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397375"/>
            <a:chOff x="681481" y="1801787"/>
            <a:chExt cx="5220970" cy="4397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47" cy="4397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8035" y="3688737"/>
                  </a:lnTo>
                  <a:lnTo>
                    <a:pt x="17946" y="3741026"/>
                  </a:lnTo>
                  <a:lnTo>
                    <a:pt x="17995" y="3741287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7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089166" y="3792626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7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18705" y="2943974"/>
            <a:ext cx="3251835" cy="20662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0238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Classification</a:t>
            </a:r>
            <a:r>
              <a:rPr dirty="0" sz="1800" spc="-8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Report</a:t>
            </a:r>
            <a:endParaRPr sz="1800">
              <a:latin typeface="Calibri"/>
              <a:cs typeface="Calibri"/>
            </a:endParaRPr>
          </a:p>
          <a:p>
            <a:pPr marL="137795" indent="-125095">
              <a:lnSpc>
                <a:spcPts val="1680"/>
              </a:lnSpc>
              <a:spcBef>
                <a:spcPts val="2160"/>
              </a:spcBef>
              <a:buChar char="•"/>
              <a:tabLst>
                <a:tab pos="137795" algn="l"/>
              </a:tabLst>
            </a:pP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Class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0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-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Rejected:</a:t>
            </a:r>
            <a:endParaRPr sz="1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Precision: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0.96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|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Recall: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0.95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|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F1: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0.95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ts val="1680"/>
              </a:lnSpc>
              <a:spcBef>
                <a:spcPts val="1680"/>
              </a:spcBef>
              <a:buChar char="•"/>
              <a:tabLst>
                <a:tab pos="139065" algn="l"/>
              </a:tabLst>
            </a:pP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Class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1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-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Approved:</a:t>
            </a:r>
            <a:endParaRPr sz="1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Precision: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0.84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|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Recall: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0.84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|</a:t>
            </a:r>
            <a:r>
              <a:rPr dirty="0" sz="14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F1: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0.84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ct val="100000"/>
              </a:lnSpc>
              <a:spcBef>
                <a:spcPts val="1670"/>
              </a:spcBef>
              <a:buChar char="•"/>
              <a:tabLst>
                <a:tab pos="13906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Overall Accuracy: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0.9287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67882" y="1801787"/>
            <a:ext cx="5220335" cy="4397375"/>
            <a:chOff x="6167882" y="1801787"/>
            <a:chExt cx="5220335" cy="43973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004" cy="439705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17946" y="3741026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6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6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234097" y="2600896"/>
            <a:ext cx="3083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Confusion</a:t>
            </a:r>
            <a:r>
              <a:rPr dirty="0" sz="1800" spc="-3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Matrix</a:t>
            </a:r>
            <a:r>
              <a:rPr dirty="0" sz="1800" spc="-3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&amp;</a:t>
            </a:r>
            <a:r>
              <a:rPr dirty="0" sz="1800" spc="-3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Best</a:t>
            </a:r>
            <a:r>
              <a:rPr dirty="0" sz="1800" spc="-3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Params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05105" y="3149536"/>
            <a:ext cx="145796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CONFUSION</a:t>
            </a:r>
            <a:r>
              <a:rPr dirty="0" sz="1300" spc="-6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MATRIX: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TN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6672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|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FP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328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FN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314</a:t>
            </a:r>
            <a:r>
              <a:rPr dirty="0" sz="1300" spc="27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|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TP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1686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5105" y="3941902"/>
            <a:ext cx="1642110" cy="1411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60"/>
              </a:lnSpc>
              <a:spcBef>
                <a:spcPts val="100"/>
              </a:spcBef>
            </a:pP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BEST</a:t>
            </a:r>
            <a:r>
              <a:rPr dirty="0" sz="1300" spc="-6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PARAMS:</a:t>
            </a:r>
            <a:endParaRPr sz="1300">
              <a:latin typeface="Calibri"/>
              <a:cs typeface="Calibri"/>
            </a:endParaRPr>
          </a:p>
          <a:p>
            <a:pPr marL="12700" marR="167640">
              <a:lnSpc>
                <a:spcPct val="100000"/>
              </a:lnSpc>
            </a:pP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n_estimators</a:t>
            </a:r>
            <a:r>
              <a:rPr dirty="0" sz="13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200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max_depth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None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max_features</a:t>
            </a:r>
            <a:r>
              <a:rPr dirty="0" sz="13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A2015"/>
                </a:solidFill>
                <a:latin typeface="Calibri"/>
                <a:cs typeface="Calibri"/>
              </a:rPr>
              <a:t>sqrt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min_samples_leaf</a:t>
            </a:r>
            <a:r>
              <a:rPr dirty="0" sz="1300" spc="-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0A2015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ts val="1560"/>
              </a:lnSpc>
              <a:spcBef>
                <a:spcPts val="40"/>
              </a:spcBef>
            </a:pP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min_samples_split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 =</a:t>
            </a:r>
            <a:r>
              <a:rPr dirty="0" sz="1300" spc="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A2015"/>
                </a:solidFill>
                <a:latin typeface="Calibri"/>
                <a:cs typeface="Calibri"/>
              </a:rPr>
              <a:t>10 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class_weight</a:t>
            </a:r>
            <a:r>
              <a:rPr dirty="0" sz="1300" spc="-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A2015"/>
                </a:solidFill>
                <a:latin typeface="Calibri"/>
                <a:cs typeface="Calibri"/>
              </a:rPr>
              <a:t>=</a:t>
            </a:r>
            <a:r>
              <a:rPr dirty="0" sz="1300" spc="-10">
                <a:solidFill>
                  <a:srgbClr val="0A2015"/>
                </a:solidFill>
                <a:latin typeface="Calibri"/>
                <a:cs typeface="Calibri"/>
              </a:rPr>
              <a:t> balanced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Boosting</a:t>
            </a:r>
            <a:r>
              <a:rPr dirty="0" spc="-95"/>
              <a:t> </a:t>
            </a:r>
            <a:r>
              <a:rPr dirty="0"/>
              <a:t>Comparison:</a:t>
            </a:r>
            <a:r>
              <a:rPr dirty="0" spc="-95"/>
              <a:t> </a:t>
            </a:r>
            <a:r>
              <a:rPr dirty="0"/>
              <a:t>AdaBoost</a:t>
            </a:r>
            <a:r>
              <a:rPr dirty="0" spc="-85"/>
              <a:t> </a:t>
            </a:r>
            <a:r>
              <a:rPr dirty="0"/>
              <a:t>vs</a:t>
            </a:r>
            <a:r>
              <a:rPr dirty="0" spc="-95"/>
              <a:t> </a:t>
            </a:r>
            <a:r>
              <a:rPr dirty="0"/>
              <a:t>Random</a:t>
            </a:r>
            <a:r>
              <a:rPr dirty="0" spc="-85"/>
              <a:t> </a:t>
            </a:r>
            <a:r>
              <a:rPr dirty="0" spc="-10"/>
              <a:t>Forest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397375"/>
            <a:chOff x="681481" y="1801787"/>
            <a:chExt cx="5220970" cy="4397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47" cy="4397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8035" y="3688737"/>
                  </a:lnTo>
                  <a:lnTo>
                    <a:pt x="17946" y="3741026"/>
                  </a:lnTo>
                  <a:lnTo>
                    <a:pt x="17995" y="3741287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7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089166" y="3792626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7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18705" y="3050540"/>
            <a:ext cx="4434840" cy="1853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63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AdaBoost</a:t>
            </a:r>
            <a:r>
              <a:rPr dirty="0" sz="1800" spc="-6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Configuration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ADABOOST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WITH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A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DECISION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TREE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BASE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ESTIMATOR (MAX_DEPTH=3),</a:t>
            </a:r>
            <a:r>
              <a:rPr dirty="0" sz="1400" spc="1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N_ESTIMATORS=100,</a:t>
            </a:r>
            <a:r>
              <a:rPr dirty="0" sz="1400" spc="1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LEARNING_RATE=0.1.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ct val="100000"/>
              </a:lnSpc>
              <a:spcBef>
                <a:spcPts val="1680"/>
              </a:spcBef>
              <a:buChar char="•"/>
              <a:tabLst>
                <a:tab pos="139065" algn="l"/>
              </a:tabLst>
            </a:pP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ACCURACY: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 91.39%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ts val="1675"/>
              </a:lnSpc>
              <a:buChar char="•"/>
              <a:tabLst>
                <a:tab pos="13906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F1-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SCORE: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0.7910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ts val="1675"/>
              </a:lnSpc>
              <a:buChar char="•"/>
              <a:tabLst>
                <a:tab pos="139065" algn="l"/>
              </a:tabLst>
            </a:pP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ROC-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AUC: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0.9650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67882" y="1801787"/>
            <a:ext cx="5220335" cy="4397375"/>
            <a:chOff x="6167882" y="1801787"/>
            <a:chExt cx="5220335" cy="43973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004" cy="439705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17946" y="3741026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6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6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505105" y="2943974"/>
            <a:ext cx="4523105" cy="20662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68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Benchmark</a:t>
            </a:r>
            <a:r>
              <a:rPr dirty="0" sz="1800" spc="-5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Clarity</a:t>
            </a:r>
            <a:endParaRPr sz="1800">
              <a:latin typeface="Calibri"/>
              <a:cs typeface="Calibri"/>
            </a:endParaRPr>
          </a:p>
          <a:p>
            <a:pPr marL="12700" marR="334010">
              <a:lnSpc>
                <a:spcPct val="100000"/>
              </a:lnSpc>
              <a:spcBef>
                <a:spcPts val="2160"/>
              </a:spcBef>
            </a:pP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IN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THIS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BOOSTING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SECTION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NOTEBOOK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REPORTS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RANDOM</a:t>
            </a:r>
            <a:r>
              <a:rPr dirty="0" sz="1400" spc="-6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FOREST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55">
                <a:solidFill>
                  <a:srgbClr val="0A2015"/>
                </a:solidFill>
                <a:latin typeface="Calibri"/>
                <a:cs typeface="Calibri"/>
              </a:rPr>
              <a:t>AT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93.00%,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USED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ONLY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FOR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THIS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LOCAL COMPARISON.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99700"/>
              </a:lnSpc>
              <a:spcBef>
                <a:spcPts val="1680"/>
              </a:spcBef>
            </a:pP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MAIN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FINAL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HELD-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OUT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TEST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ACCURACY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FOR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RANDOM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FOREST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REMAINS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92.87%.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TWO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FIGURES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SHOULD</a:t>
            </a:r>
            <a:r>
              <a:rPr dirty="0" sz="1400" spc="-5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NOT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BE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CONFUSED.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-65"/>
              <a:t> </a:t>
            </a:r>
            <a:r>
              <a:rPr dirty="0"/>
              <a:t>Saving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10"/>
              <a:t>Deployment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801787"/>
            <a:ext cx="5220970" cy="4397375"/>
            <a:chOff x="681481" y="1801787"/>
            <a:chExt cx="5220970" cy="4397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801787"/>
              <a:ext cx="5220347" cy="4397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8035" y="3688737"/>
                  </a:lnTo>
                  <a:lnTo>
                    <a:pt x="17946" y="3741026"/>
                  </a:lnTo>
                  <a:lnTo>
                    <a:pt x="17995" y="3741287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7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089166" y="3792626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7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7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570657" y="3050540"/>
            <a:ext cx="1440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Saved</a:t>
            </a:r>
            <a:r>
              <a:rPr dirty="0" sz="1800" spc="-5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Artifacts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8705" y="3599179"/>
            <a:ext cx="2785110" cy="1304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795" indent="-125095">
              <a:lnSpc>
                <a:spcPct val="100000"/>
              </a:lnSpc>
              <a:spcBef>
                <a:spcPts val="100"/>
              </a:spcBef>
              <a:buChar char="•"/>
              <a:tabLst>
                <a:tab pos="13779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BEST_LOGISTIC_REGRESSION.JOBLIB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ts val="1680"/>
              </a:lnSpc>
              <a:buChar char="•"/>
              <a:tabLst>
                <a:tab pos="13906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BEST_KNN.JOBLIB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ct val="100000"/>
              </a:lnSpc>
              <a:buChar char="•"/>
              <a:tabLst>
                <a:tab pos="13906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BEST_SVM.JOBLIB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ct val="100000"/>
              </a:lnSpc>
              <a:buChar char="•"/>
              <a:tabLst>
                <a:tab pos="13906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BEST_DECISION_TREE.JOBLIB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ts val="1675"/>
              </a:lnSpc>
              <a:buChar char="•"/>
              <a:tabLst>
                <a:tab pos="13906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BEST_RANDOM_FOREST.JOBLIB</a:t>
            </a:r>
            <a:endParaRPr sz="1400">
              <a:latin typeface="Calibri"/>
              <a:cs typeface="Calibri"/>
            </a:endParaRPr>
          </a:p>
          <a:p>
            <a:pPr marL="139065" indent="-126364">
              <a:lnSpc>
                <a:spcPts val="1675"/>
              </a:lnSpc>
              <a:buChar char="•"/>
              <a:tabLst>
                <a:tab pos="139065" algn="l"/>
              </a:tabLst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PREPROCESSOR.JOBLIB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67882" y="1801787"/>
            <a:ext cx="5220335" cy="4397375"/>
            <a:chOff x="6167882" y="1801787"/>
            <a:chExt cx="5220335" cy="43973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82" y="1801787"/>
              <a:ext cx="5220004" cy="43970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716762" y="0"/>
                  </a:moveTo>
                  <a:lnTo>
                    <a:pt x="662953" y="2018"/>
                  </a:lnTo>
                  <a:lnTo>
                    <a:pt x="609666" y="8035"/>
                  </a:lnTo>
                  <a:lnTo>
                    <a:pt x="557116" y="17995"/>
                  </a:lnTo>
                  <a:lnTo>
                    <a:pt x="505515" y="31841"/>
                  </a:lnTo>
                  <a:lnTo>
                    <a:pt x="455080" y="49516"/>
                  </a:lnTo>
                  <a:lnTo>
                    <a:pt x="406023" y="70963"/>
                  </a:lnTo>
                  <a:lnTo>
                    <a:pt x="358559" y="96126"/>
                  </a:lnTo>
                  <a:lnTo>
                    <a:pt x="312982" y="124660"/>
                  </a:lnTo>
                  <a:lnTo>
                    <a:pt x="269856" y="156456"/>
                  </a:lnTo>
                  <a:lnTo>
                    <a:pt x="229336" y="191338"/>
                  </a:lnTo>
                  <a:lnTo>
                    <a:pt x="191582" y="229130"/>
                  </a:lnTo>
                  <a:lnTo>
                    <a:pt x="156749" y="269656"/>
                  </a:lnTo>
                  <a:lnTo>
                    <a:pt x="124997" y="312739"/>
                  </a:lnTo>
                  <a:lnTo>
                    <a:pt x="96481" y="358203"/>
                  </a:lnTo>
                  <a:lnTo>
                    <a:pt x="71323" y="405798"/>
                  </a:lnTo>
                  <a:lnTo>
                    <a:pt x="49879" y="454942"/>
                  </a:lnTo>
                  <a:lnTo>
                    <a:pt x="32181" y="505515"/>
                  </a:lnTo>
                  <a:lnTo>
                    <a:pt x="18345" y="557116"/>
                  </a:lnTo>
                  <a:lnTo>
                    <a:pt x="8403" y="609528"/>
                  </a:lnTo>
                  <a:lnTo>
                    <a:pt x="2386" y="662728"/>
                  </a:lnTo>
                  <a:lnTo>
                    <a:pt x="368" y="716407"/>
                  </a:lnTo>
                  <a:lnTo>
                    <a:pt x="0" y="3581641"/>
                  </a:lnTo>
                  <a:lnTo>
                    <a:pt x="2013" y="3635319"/>
                  </a:lnTo>
                  <a:lnTo>
                    <a:pt x="8011" y="3688519"/>
                  </a:lnTo>
                  <a:lnTo>
                    <a:pt x="17946" y="3741026"/>
                  </a:lnTo>
                  <a:lnTo>
                    <a:pt x="31771" y="3792626"/>
                  </a:lnTo>
                  <a:lnTo>
                    <a:pt x="31841" y="3792887"/>
                  </a:lnTo>
                  <a:lnTo>
                    <a:pt x="49439" y="3843105"/>
                  </a:lnTo>
                  <a:lnTo>
                    <a:pt x="49516" y="3843323"/>
                  </a:lnTo>
                  <a:lnTo>
                    <a:pt x="70906" y="3892250"/>
                  </a:lnTo>
                  <a:lnTo>
                    <a:pt x="96126" y="3939844"/>
                  </a:lnTo>
                  <a:lnTo>
                    <a:pt x="124660" y="3985421"/>
                  </a:lnTo>
                  <a:lnTo>
                    <a:pt x="156341" y="4028392"/>
                  </a:lnTo>
                  <a:lnTo>
                    <a:pt x="156456" y="4028547"/>
                  </a:lnTo>
                  <a:lnTo>
                    <a:pt x="191338" y="4069067"/>
                  </a:lnTo>
                  <a:lnTo>
                    <a:pt x="229130" y="4106821"/>
                  </a:lnTo>
                  <a:lnTo>
                    <a:pt x="269656" y="4141654"/>
                  </a:lnTo>
                  <a:lnTo>
                    <a:pt x="312739" y="4173406"/>
                  </a:lnTo>
                  <a:lnTo>
                    <a:pt x="358203" y="4201922"/>
                  </a:lnTo>
                  <a:lnTo>
                    <a:pt x="405798" y="4227084"/>
                  </a:lnTo>
                  <a:lnTo>
                    <a:pt x="454942" y="4248532"/>
                  </a:lnTo>
                  <a:lnTo>
                    <a:pt x="505421" y="4266206"/>
                  </a:lnTo>
                  <a:lnTo>
                    <a:pt x="557021" y="4280052"/>
                  </a:lnTo>
                  <a:lnTo>
                    <a:pt x="609528" y="4290012"/>
                  </a:lnTo>
                  <a:lnTo>
                    <a:pt x="662728" y="4296029"/>
                  </a:lnTo>
                  <a:lnTo>
                    <a:pt x="716406" y="4298048"/>
                  </a:lnTo>
                  <a:lnTo>
                    <a:pt x="4404601" y="4298048"/>
                  </a:lnTo>
                  <a:lnTo>
                    <a:pt x="4458410" y="4296029"/>
                  </a:lnTo>
                  <a:lnTo>
                    <a:pt x="4511697" y="4290012"/>
                  </a:lnTo>
                  <a:lnTo>
                    <a:pt x="4564247" y="4280052"/>
                  </a:lnTo>
                  <a:lnTo>
                    <a:pt x="4615847" y="4266206"/>
                  </a:lnTo>
                  <a:lnTo>
                    <a:pt x="4666283" y="4248532"/>
                  </a:lnTo>
                  <a:lnTo>
                    <a:pt x="4715340" y="4227084"/>
                  </a:lnTo>
                  <a:lnTo>
                    <a:pt x="4762804" y="4201922"/>
                  </a:lnTo>
                  <a:lnTo>
                    <a:pt x="4808351" y="4173406"/>
                  </a:lnTo>
                  <a:lnTo>
                    <a:pt x="4851423" y="4141654"/>
                  </a:lnTo>
                  <a:lnTo>
                    <a:pt x="4891897" y="4106821"/>
                  </a:lnTo>
                  <a:lnTo>
                    <a:pt x="4929781" y="4068917"/>
                  </a:lnTo>
                  <a:lnTo>
                    <a:pt x="4964614" y="4028392"/>
                  </a:lnTo>
                  <a:lnTo>
                    <a:pt x="4996284" y="3985421"/>
                  </a:lnTo>
                  <a:lnTo>
                    <a:pt x="5024882" y="3939844"/>
                  </a:lnTo>
                  <a:lnTo>
                    <a:pt x="5049975" y="3892380"/>
                  </a:lnTo>
                  <a:lnTo>
                    <a:pt x="5071397" y="3843323"/>
                  </a:lnTo>
                  <a:lnTo>
                    <a:pt x="5089075" y="3792887"/>
                  </a:lnTo>
                  <a:lnTo>
                    <a:pt x="5102942" y="3741287"/>
                  </a:lnTo>
                  <a:lnTo>
                    <a:pt x="5103012" y="3741026"/>
                  </a:lnTo>
                  <a:lnTo>
                    <a:pt x="5112931" y="3688737"/>
                  </a:lnTo>
                  <a:lnTo>
                    <a:pt x="5112972" y="3688519"/>
                  </a:lnTo>
                  <a:lnTo>
                    <a:pt x="5118975" y="3635450"/>
                  </a:lnTo>
                  <a:lnTo>
                    <a:pt x="5121008" y="3581641"/>
                  </a:lnTo>
                  <a:lnTo>
                    <a:pt x="5120994" y="716407"/>
                  </a:lnTo>
                  <a:lnTo>
                    <a:pt x="5118989" y="662953"/>
                  </a:lnTo>
                  <a:lnTo>
                    <a:pt x="5112972" y="609666"/>
                  </a:lnTo>
                  <a:lnTo>
                    <a:pt x="5103012" y="557116"/>
                  </a:lnTo>
                  <a:lnTo>
                    <a:pt x="5089166" y="505515"/>
                  </a:lnTo>
                  <a:lnTo>
                    <a:pt x="5071492" y="455080"/>
                  </a:lnTo>
                  <a:lnTo>
                    <a:pt x="5050044" y="406023"/>
                  </a:lnTo>
                  <a:lnTo>
                    <a:pt x="5024882" y="358559"/>
                  </a:lnTo>
                  <a:lnTo>
                    <a:pt x="4996348" y="312982"/>
                  </a:lnTo>
                  <a:lnTo>
                    <a:pt x="4964551" y="269856"/>
                  </a:lnTo>
                  <a:lnTo>
                    <a:pt x="4929669" y="229336"/>
                  </a:lnTo>
                  <a:lnTo>
                    <a:pt x="4891877" y="191582"/>
                  </a:lnTo>
                  <a:lnTo>
                    <a:pt x="4851352" y="156749"/>
                  </a:lnTo>
                  <a:lnTo>
                    <a:pt x="4808269" y="124997"/>
                  </a:lnTo>
                  <a:lnTo>
                    <a:pt x="4762804" y="96481"/>
                  </a:lnTo>
                  <a:lnTo>
                    <a:pt x="4715210" y="71323"/>
                  </a:lnTo>
                  <a:lnTo>
                    <a:pt x="4666065" y="49879"/>
                  </a:lnTo>
                  <a:lnTo>
                    <a:pt x="4615586" y="32207"/>
                  </a:lnTo>
                  <a:lnTo>
                    <a:pt x="4563986" y="18363"/>
                  </a:lnTo>
                  <a:lnTo>
                    <a:pt x="4511479" y="8403"/>
                  </a:lnTo>
                  <a:lnTo>
                    <a:pt x="4458279" y="2386"/>
                  </a:lnTo>
                  <a:lnTo>
                    <a:pt x="4404601" y="368"/>
                  </a:lnTo>
                  <a:lnTo>
                    <a:pt x="716762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17196" y="1828076"/>
              <a:ext cx="5121275" cy="4298315"/>
            </a:xfrm>
            <a:custGeom>
              <a:avLst/>
              <a:gdLst/>
              <a:ahLst/>
              <a:cxnLst/>
              <a:rect l="l" t="t" r="r" b="b"/>
              <a:pathLst>
                <a:path w="5121275" h="4298315">
                  <a:moveTo>
                    <a:pt x="368" y="716407"/>
                  </a:moveTo>
                  <a:lnTo>
                    <a:pt x="2386" y="662728"/>
                  </a:lnTo>
                  <a:lnTo>
                    <a:pt x="8403" y="609528"/>
                  </a:lnTo>
                  <a:lnTo>
                    <a:pt x="18363" y="557021"/>
                  </a:lnTo>
                  <a:lnTo>
                    <a:pt x="32207" y="505421"/>
                  </a:lnTo>
                  <a:lnTo>
                    <a:pt x="49879" y="454942"/>
                  </a:lnTo>
                  <a:lnTo>
                    <a:pt x="71323" y="405798"/>
                  </a:lnTo>
                  <a:lnTo>
                    <a:pt x="96481" y="358203"/>
                  </a:lnTo>
                  <a:lnTo>
                    <a:pt x="124997" y="312739"/>
                  </a:lnTo>
                  <a:lnTo>
                    <a:pt x="156749" y="269656"/>
                  </a:lnTo>
                  <a:lnTo>
                    <a:pt x="191582" y="229130"/>
                  </a:lnTo>
                  <a:lnTo>
                    <a:pt x="229336" y="191338"/>
                  </a:lnTo>
                  <a:lnTo>
                    <a:pt x="269856" y="156456"/>
                  </a:lnTo>
                  <a:lnTo>
                    <a:pt x="312982" y="124660"/>
                  </a:lnTo>
                  <a:lnTo>
                    <a:pt x="358559" y="96126"/>
                  </a:lnTo>
                  <a:lnTo>
                    <a:pt x="406023" y="70963"/>
                  </a:lnTo>
                  <a:lnTo>
                    <a:pt x="455080" y="49516"/>
                  </a:lnTo>
                  <a:lnTo>
                    <a:pt x="505515" y="31841"/>
                  </a:lnTo>
                  <a:lnTo>
                    <a:pt x="557116" y="17995"/>
                  </a:lnTo>
                  <a:lnTo>
                    <a:pt x="609666" y="8035"/>
                  </a:lnTo>
                  <a:lnTo>
                    <a:pt x="662953" y="2018"/>
                  </a:lnTo>
                  <a:lnTo>
                    <a:pt x="716762" y="0"/>
                  </a:lnTo>
                  <a:lnTo>
                    <a:pt x="4404601" y="368"/>
                  </a:lnTo>
                  <a:lnTo>
                    <a:pt x="4458279" y="2386"/>
                  </a:lnTo>
                  <a:lnTo>
                    <a:pt x="4511479" y="8403"/>
                  </a:lnTo>
                  <a:lnTo>
                    <a:pt x="4563986" y="18363"/>
                  </a:lnTo>
                  <a:lnTo>
                    <a:pt x="4615586" y="32207"/>
                  </a:lnTo>
                  <a:lnTo>
                    <a:pt x="4666065" y="49879"/>
                  </a:lnTo>
                  <a:lnTo>
                    <a:pt x="4715210" y="71323"/>
                  </a:lnTo>
                  <a:lnTo>
                    <a:pt x="4762804" y="96481"/>
                  </a:lnTo>
                  <a:lnTo>
                    <a:pt x="4808269" y="124997"/>
                  </a:lnTo>
                  <a:lnTo>
                    <a:pt x="4851352" y="156749"/>
                  </a:lnTo>
                  <a:lnTo>
                    <a:pt x="4891877" y="191582"/>
                  </a:lnTo>
                  <a:lnTo>
                    <a:pt x="4929669" y="229336"/>
                  </a:lnTo>
                  <a:lnTo>
                    <a:pt x="4964551" y="269856"/>
                  </a:lnTo>
                  <a:lnTo>
                    <a:pt x="4996348" y="312982"/>
                  </a:lnTo>
                  <a:lnTo>
                    <a:pt x="5024882" y="358559"/>
                  </a:lnTo>
                  <a:lnTo>
                    <a:pt x="5050044" y="406023"/>
                  </a:lnTo>
                  <a:lnTo>
                    <a:pt x="5071492" y="455080"/>
                  </a:lnTo>
                  <a:lnTo>
                    <a:pt x="5089166" y="505515"/>
                  </a:lnTo>
                  <a:lnTo>
                    <a:pt x="5103012" y="557116"/>
                  </a:lnTo>
                  <a:lnTo>
                    <a:pt x="5112972" y="609666"/>
                  </a:lnTo>
                  <a:lnTo>
                    <a:pt x="5118989" y="662953"/>
                  </a:lnTo>
                  <a:lnTo>
                    <a:pt x="5121008" y="716762"/>
                  </a:lnTo>
                  <a:lnTo>
                    <a:pt x="5121008" y="3581641"/>
                  </a:lnTo>
                  <a:lnTo>
                    <a:pt x="5118989" y="3635319"/>
                  </a:lnTo>
                  <a:lnTo>
                    <a:pt x="5112972" y="3688519"/>
                  </a:lnTo>
                  <a:lnTo>
                    <a:pt x="5103012" y="3741026"/>
                  </a:lnTo>
                  <a:lnTo>
                    <a:pt x="5089166" y="3792626"/>
                  </a:lnTo>
                  <a:lnTo>
                    <a:pt x="5071492" y="3843105"/>
                  </a:lnTo>
                  <a:lnTo>
                    <a:pt x="5050044" y="3892250"/>
                  </a:lnTo>
                  <a:lnTo>
                    <a:pt x="5024882" y="3939844"/>
                  </a:lnTo>
                  <a:lnTo>
                    <a:pt x="4996366" y="3985309"/>
                  </a:lnTo>
                  <a:lnTo>
                    <a:pt x="4964614" y="4028392"/>
                  </a:lnTo>
                  <a:lnTo>
                    <a:pt x="4929781" y="4068917"/>
                  </a:lnTo>
                  <a:lnTo>
                    <a:pt x="4892027" y="4106709"/>
                  </a:lnTo>
                  <a:lnTo>
                    <a:pt x="4851507" y="4141591"/>
                  </a:lnTo>
                  <a:lnTo>
                    <a:pt x="4808381" y="4173388"/>
                  </a:lnTo>
                  <a:lnTo>
                    <a:pt x="4762804" y="4201922"/>
                  </a:lnTo>
                  <a:lnTo>
                    <a:pt x="4715340" y="4227084"/>
                  </a:lnTo>
                  <a:lnTo>
                    <a:pt x="4666283" y="4248532"/>
                  </a:lnTo>
                  <a:lnTo>
                    <a:pt x="4615847" y="4266206"/>
                  </a:lnTo>
                  <a:lnTo>
                    <a:pt x="4564247" y="4280052"/>
                  </a:lnTo>
                  <a:lnTo>
                    <a:pt x="4511697" y="4290012"/>
                  </a:lnTo>
                  <a:lnTo>
                    <a:pt x="4458410" y="4296029"/>
                  </a:lnTo>
                  <a:lnTo>
                    <a:pt x="4404601" y="4298048"/>
                  </a:lnTo>
                  <a:lnTo>
                    <a:pt x="716406" y="4298048"/>
                  </a:lnTo>
                  <a:lnTo>
                    <a:pt x="662728" y="4296029"/>
                  </a:lnTo>
                  <a:lnTo>
                    <a:pt x="609528" y="4290012"/>
                  </a:lnTo>
                  <a:lnTo>
                    <a:pt x="557021" y="4280052"/>
                  </a:lnTo>
                  <a:lnTo>
                    <a:pt x="505421" y="4266206"/>
                  </a:lnTo>
                  <a:lnTo>
                    <a:pt x="454942" y="4248532"/>
                  </a:lnTo>
                  <a:lnTo>
                    <a:pt x="405798" y="4227084"/>
                  </a:lnTo>
                  <a:lnTo>
                    <a:pt x="358203" y="4201922"/>
                  </a:lnTo>
                  <a:lnTo>
                    <a:pt x="312739" y="4173406"/>
                  </a:lnTo>
                  <a:lnTo>
                    <a:pt x="269656" y="4141654"/>
                  </a:lnTo>
                  <a:lnTo>
                    <a:pt x="229130" y="4106821"/>
                  </a:lnTo>
                  <a:lnTo>
                    <a:pt x="191338" y="4069067"/>
                  </a:lnTo>
                  <a:lnTo>
                    <a:pt x="156456" y="4028547"/>
                  </a:lnTo>
                  <a:lnTo>
                    <a:pt x="124660" y="3985421"/>
                  </a:lnTo>
                  <a:lnTo>
                    <a:pt x="96126" y="3939844"/>
                  </a:lnTo>
                  <a:lnTo>
                    <a:pt x="70963" y="3892380"/>
                  </a:lnTo>
                  <a:lnTo>
                    <a:pt x="49516" y="3843323"/>
                  </a:lnTo>
                  <a:lnTo>
                    <a:pt x="31841" y="3792887"/>
                  </a:lnTo>
                  <a:lnTo>
                    <a:pt x="17995" y="3741287"/>
                  </a:lnTo>
                  <a:lnTo>
                    <a:pt x="8035" y="3688737"/>
                  </a:lnTo>
                  <a:lnTo>
                    <a:pt x="2018" y="3635450"/>
                  </a:lnTo>
                  <a:lnTo>
                    <a:pt x="0" y="3581641"/>
                  </a:lnTo>
                  <a:lnTo>
                    <a:pt x="368" y="716407"/>
                  </a:lnTo>
                  <a:close/>
                </a:path>
              </a:pathLst>
            </a:custGeom>
            <a:ln w="19079">
              <a:solidFill>
                <a:srgbClr val="0FA2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566736" y="3050540"/>
            <a:ext cx="2419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6433"/>
                </a:solidFill>
                <a:latin typeface="Calibri"/>
                <a:cs typeface="Calibri"/>
              </a:rPr>
              <a:t>Deployment</a:t>
            </a:r>
            <a:r>
              <a:rPr dirty="0" sz="1800" spc="-65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6433"/>
                </a:solidFill>
                <a:latin typeface="Calibri"/>
                <a:cs typeface="Calibri"/>
              </a:rPr>
              <a:t>Architecture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5105" y="3599179"/>
            <a:ext cx="405765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SAVING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TRAINED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MODELS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TOGETHER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WITH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THE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PREPROCESSING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OBJECT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LETS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THEM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BE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RELOADED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AND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REUSED</a:t>
            </a:r>
            <a:r>
              <a:rPr dirty="0" sz="1400" spc="-5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LATER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WITHOUT</a:t>
            </a:r>
            <a:r>
              <a:rPr dirty="0" sz="1400" spc="-5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RETRAINING.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05105" y="4452747"/>
            <a:ext cx="4436110" cy="45085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165"/>
              </a:spcBef>
            </a:pP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TRAINED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MODEL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PREPROCESSOR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A2015"/>
                </a:solidFill>
                <a:latin typeface="Calibri"/>
                <a:cs typeface="Calibri"/>
              </a:rPr>
              <a:t>WERE</a:t>
            </a:r>
            <a:r>
              <a:rPr dirty="0" sz="1400" spc="-3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SAVED</a:t>
            </a:r>
            <a:r>
              <a:rPr dirty="0" sz="1400" spc="-40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A2015"/>
                </a:solidFill>
                <a:latin typeface="Calibri"/>
                <a:cs typeface="Calibri"/>
              </a:rPr>
              <a:t>FOR </a:t>
            </a:r>
            <a:r>
              <a:rPr dirty="0" sz="1400" spc="-20">
                <a:solidFill>
                  <a:srgbClr val="0A2015"/>
                </a:solidFill>
                <a:latin typeface="Calibri"/>
                <a:cs typeface="Calibri"/>
              </a:rPr>
              <a:t>LATER</a:t>
            </a:r>
            <a:r>
              <a:rPr dirty="0" sz="1400" spc="-45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A2015"/>
                </a:solidFill>
                <a:latin typeface="Calibri"/>
                <a:cs typeface="Calibri"/>
              </a:rPr>
              <a:t>DEPLOYMENT.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24" y="489140"/>
            <a:ext cx="1616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LENDORA AI •</a:t>
            </a:r>
            <a:r>
              <a:rPr dirty="0" sz="1100" spc="-5" b="1">
                <a:solidFill>
                  <a:srgbClr val="0FA26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FA266"/>
                </a:solidFill>
                <a:latin typeface="Calibri"/>
                <a:cs typeface="Calibri"/>
              </a:rPr>
              <a:t>NTI </a:t>
            </a:r>
            <a:r>
              <a:rPr dirty="0" sz="1100" spc="-10" b="1">
                <a:solidFill>
                  <a:srgbClr val="0FA266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End-</a:t>
            </a:r>
            <a:r>
              <a:rPr dirty="0" spc="-25"/>
              <a:t>to-</a:t>
            </a:r>
            <a:r>
              <a:rPr dirty="0"/>
              <a:t>End</a:t>
            </a:r>
            <a:r>
              <a:rPr dirty="0" spc="-50"/>
              <a:t> </a:t>
            </a:r>
            <a:r>
              <a:rPr dirty="0"/>
              <a:t>Project</a:t>
            </a:r>
            <a:r>
              <a:rPr dirty="0" spc="-40"/>
              <a:t> </a:t>
            </a:r>
            <a:r>
              <a:rPr dirty="0" spc="-10"/>
              <a:t>Pipeline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1481" y="1984667"/>
            <a:ext cx="2112010" cy="1745614"/>
            <a:chOff x="681481" y="1984667"/>
            <a:chExt cx="2112010" cy="174561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81" y="1984667"/>
              <a:ext cx="2111400" cy="17452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16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80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19"/>
                  </a:lnTo>
                  <a:lnTo>
                    <a:pt x="0" y="1371600"/>
                  </a:lnTo>
                  <a:lnTo>
                    <a:pt x="2321" y="1407145"/>
                  </a:lnTo>
                  <a:lnTo>
                    <a:pt x="2345" y="1407506"/>
                  </a:lnTo>
                  <a:lnTo>
                    <a:pt x="9242" y="1442245"/>
                  </a:lnTo>
                  <a:lnTo>
                    <a:pt x="9313" y="1442604"/>
                  </a:lnTo>
                  <a:lnTo>
                    <a:pt x="20681" y="1476128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19" y="1645920"/>
                  </a:lnTo>
                  <a:lnTo>
                    <a:pt x="1737360" y="1645551"/>
                  </a:lnTo>
                  <a:lnTo>
                    <a:pt x="1808364" y="1636237"/>
                  </a:lnTo>
                  <a:lnTo>
                    <a:pt x="1874520" y="1608835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311" y="274319"/>
                  </a:lnTo>
                  <a:lnTo>
                    <a:pt x="2001997" y="203306"/>
                  </a:lnTo>
                  <a:lnTo>
                    <a:pt x="1974595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16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80" h="1645920">
                  <a:moveTo>
                    <a:pt x="0" y="274319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5" y="137160"/>
                  </a:lnTo>
                  <a:lnTo>
                    <a:pt x="2001997" y="203306"/>
                  </a:lnTo>
                  <a:lnTo>
                    <a:pt x="2011311" y="274319"/>
                  </a:lnTo>
                  <a:lnTo>
                    <a:pt x="2011680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20" y="1608835"/>
                  </a:lnTo>
                  <a:lnTo>
                    <a:pt x="1808364" y="1636237"/>
                  </a:lnTo>
                  <a:lnTo>
                    <a:pt x="1737360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19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27657" y="2722575"/>
            <a:ext cx="6210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35" b="1">
                <a:solidFill>
                  <a:srgbClr val="0A2015"/>
                </a:solidFill>
                <a:latin typeface="Calibri"/>
                <a:cs typeface="Calibri"/>
              </a:rPr>
              <a:t>DATASET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76042" y="1984667"/>
            <a:ext cx="2112010" cy="1745614"/>
            <a:chOff x="2876042" y="1984667"/>
            <a:chExt cx="2112010" cy="1745614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6042" y="1984667"/>
              <a:ext cx="2111400" cy="17452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2572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19"/>
                  </a:lnTo>
                  <a:lnTo>
                    <a:pt x="0" y="1371600"/>
                  </a:lnTo>
                  <a:lnTo>
                    <a:pt x="2321" y="1407145"/>
                  </a:lnTo>
                  <a:lnTo>
                    <a:pt x="2345" y="1407506"/>
                  </a:lnTo>
                  <a:lnTo>
                    <a:pt x="9242" y="1442245"/>
                  </a:lnTo>
                  <a:lnTo>
                    <a:pt x="9313" y="1442604"/>
                  </a:lnTo>
                  <a:lnTo>
                    <a:pt x="20681" y="1476128"/>
                  </a:lnTo>
                  <a:lnTo>
                    <a:pt x="20804" y="1476489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19" y="1645920"/>
                  </a:lnTo>
                  <a:lnTo>
                    <a:pt x="1737360" y="1645551"/>
                  </a:lnTo>
                  <a:lnTo>
                    <a:pt x="1808364" y="1636237"/>
                  </a:lnTo>
                  <a:lnTo>
                    <a:pt x="1874519" y="1608835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19"/>
                  </a:lnTo>
                  <a:lnTo>
                    <a:pt x="2001997" y="203306"/>
                  </a:lnTo>
                  <a:lnTo>
                    <a:pt x="1974595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2572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19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5" y="137160"/>
                  </a:lnTo>
                  <a:lnTo>
                    <a:pt x="2001997" y="203306"/>
                  </a:lnTo>
                  <a:lnTo>
                    <a:pt x="2011311" y="274319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19" y="1608835"/>
                  </a:lnTo>
                  <a:lnTo>
                    <a:pt x="1808364" y="1636237"/>
                  </a:lnTo>
                  <a:lnTo>
                    <a:pt x="1737360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19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778097" y="2722575"/>
            <a:ext cx="30734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0A2015"/>
                </a:solidFill>
                <a:latin typeface="Calibri"/>
                <a:cs typeface="Calibri"/>
              </a:rPr>
              <a:t>EDA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070602" y="1984667"/>
            <a:ext cx="2112010" cy="1745614"/>
            <a:chOff x="5070602" y="1984667"/>
            <a:chExt cx="2112010" cy="1745614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0602" y="1984667"/>
              <a:ext cx="2111400" cy="174529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2028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19"/>
                  </a:lnTo>
                  <a:lnTo>
                    <a:pt x="0" y="1371600"/>
                  </a:lnTo>
                  <a:lnTo>
                    <a:pt x="2321" y="1407145"/>
                  </a:lnTo>
                  <a:lnTo>
                    <a:pt x="2345" y="1407506"/>
                  </a:lnTo>
                  <a:lnTo>
                    <a:pt x="9242" y="1442245"/>
                  </a:lnTo>
                  <a:lnTo>
                    <a:pt x="9313" y="1442604"/>
                  </a:lnTo>
                  <a:lnTo>
                    <a:pt x="20681" y="1476128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19" y="1645920"/>
                  </a:lnTo>
                  <a:lnTo>
                    <a:pt x="1737359" y="1645551"/>
                  </a:lnTo>
                  <a:lnTo>
                    <a:pt x="1808364" y="1636237"/>
                  </a:lnTo>
                  <a:lnTo>
                    <a:pt x="1874520" y="1608835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19"/>
                  </a:lnTo>
                  <a:lnTo>
                    <a:pt x="2001997" y="203306"/>
                  </a:lnTo>
                  <a:lnTo>
                    <a:pt x="1974596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2028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19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6" y="137160"/>
                  </a:lnTo>
                  <a:lnTo>
                    <a:pt x="2001997" y="203306"/>
                  </a:lnTo>
                  <a:lnTo>
                    <a:pt x="2011311" y="274319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20" y="1608835"/>
                  </a:lnTo>
                  <a:lnTo>
                    <a:pt x="1808364" y="1636237"/>
                  </a:lnTo>
                  <a:lnTo>
                    <a:pt x="1737359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19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548579" y="2623578"/>
            <a:ext cx="115506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0A2015"/>
                </a:solidFill>
                <a:latin typeface="Calibri"/>
                <a:cs typeface="Calibri"/>
              </a:rPr>
              <a:t>DATA </a:t>
            </a:r>
            <a:r>
              <a:rPr dirty="0" sz="1300" spc="-10" b="1">
                <a:solidFill>
                  <a:srgbClr val="0A2015"/>
                </a:solidFill>
                <a:latin typeface="Calibri"/>
                <a:cs typeface="Calibri"/>
              </a:rPr>
              <a:t>PREPROCESSING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65161" y="1984667"/>
            <a:ext cx="2112010" cy="1745614"/>
            <a:chOff x="7265161" y="1984667"/>
            <a:chExt cx="2112010" cy="1745614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5161" y="1984667"/>
              <a:ext cx="2111400" cy="174529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1484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20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19"/>
                  </a:lnTo>
                  <a:lnTo>
                    <a:pt x="0" y="1371600"/>
                  </a:lnTo>
                  <a:lnTo>
                    <a:pt x="9242" y="1442245"/>
                  </a:lnTo>
                  <a:lnTo>
                    <a:pt x="20681" y="1476128"/>
                  </a:lnTo>
                  <a:lnTo>
                    <a:pt x="20804" y="1476489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20" y="1645920"/>
                  </a:lnTo>
                  <a:lnTo>
                    <a:pt x="1737360" y="1645551"/>
                  </a:lnTo>
                  <a:lnTo>
                    <a:pt x="1808364" y="1636237"/>
                  </a:lnTo>
                  <a:lnTo>
                    <a:pt x="1874520" y="1608835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19"/>
                  </a:lnTo>
                  <a:lnTo>
                    <a:pt x="2001997" y="203306"/>
                  </a:lnTo>
                  <a:lnTo>
                    <a:pt x="1974596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1484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19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60" y="36715"/>
                  </a:lnTo>
                  <a:lnTo>
                    <a:pt x="203306" y="9313"/>
                  </a:lnTo>
                  <a:lnTo>
                    <a:pt x="274320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6" y="137160"/>
                  </a:lnTo>
                  <a:lnTo>
                    <a:pt x="2001997" y="203306"/>
                  </a:lnTo>
                  <a:lnTo>
                    <a:pt x="2011311" y="274319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20" y="1608835"/>
                  </a:lnTo>
                  <a:lnTo>
                    <a:pt x="1808364" y="1636237"/>
                  </a:lnTo>
                  <a:lnTo>
                    <a:pt x="1737360" y="1645551"/>
                  </a:lnTo>
                  <a:lnTo>
                    <a:pt x="274320" y="1645920"/>
                  </a:lnTo>
                  <a:lnTo>
                    <a:pt x="203306" y="1636604"/>
                  </a:lnTo>
                  <a:lnTo>
                    <a:pt x="137160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19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865186" y="2623578"/>
            <a:ext cx="91186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4955" marR="5080" indent="-26289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A2015"/>
                </a:solidFill>
                <a:latin typeface="Calibri"/>
                <a:cs typeface="Calibri"/>
              </a:rPr>
              <a:t>TRAIN</a:t>
            </a:r>
            <a:r>
              <a:rPr dirty="0" sz="1300" spc="-45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A2015"/>
                </a:solidFill>
                <a:latin typeface="Calibri"/>
                <a:cs typeface="Calibri"/>
              </a:rPr>
              <a:t>/</a:t>
            </a:r>
            <a:r>
              <a:rPr dirty="0" sz="1300" spc="-35" b="1">
                <a:solidFill>
                  <a:srgbClr val="0A2015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A2015"/>
                </a:solidFill>
                <a:latin typeface="Calibri"/>
                <a:cs typeface="Calibri"/>
              </a:rPr>
              <a:t>TEST </a:t>
            </a:r>
            <a:r>
              <a:rPr dirty="0" sz="1300" spc="-10" b="1">
                <a:solidFill>
                  <a:srgbClr val="0A2015"/>
                </a:solidFill>
                <a:latin typeface="Calibri"/>
                <a:cs typeface="Calibri"/>
              </a:rPr>
              <a:t>SPLIT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59721" y="1984667"/>
            <a:ext cx="2112010" cy="1745614"/>
            <a:chOff x="9459721" y="1984667"/>
            <a:chExt cx="2112010" cy="1745614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59721" y="1984667"/>
              <a:ext cx="2111400" cy="174529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50940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19"/>
                  </a:lnTo>
                  <a:lnTo>
                    <a:pt x="0" y="1371600"/>
                  </a:lnTo>
                  <a:lnTo>
                    <a:pt x="9242" y="1442245"/>
                  </a:lnTo>
                  <a:lnTo>
                    <a:pt x="20681" y="1476128"/>
                  </a:lnTo>
                  <a:lnTo>
                    <a:pt x="20804" y="1476489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19" y="1645920"/>
                  </a:lnTo>
                  <a:lnTo>
                    <a:pt x="1737359" y="1645551"/>
                  </a:lnTo>
                  <a:lnTo>
                    <a:pt x="1808364" y="1636237"/>
                  </a:lnTo>
                  <a:lnTo>
                    <a:pt x="1874519" y="1608835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19"/>
                  </a:lnTo>
                  <a:lnTo>
                    <a:pt x="2001997" y="203306"/>
                  </a:lnTo>
                  <a:lnTo>
                    <a:pt x="1974595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509404" y="201132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19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5" y="137160"/>
                  </a:lnTo>
                  <a:lnTo>
                    <a:pt x="2001997" y="203306"/>
                  </a:lnTo>
                  <a:lnTo>
                    <a:pt x="2011311" y="274319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19" y="1608835"/>
                  </a:lnTo>
                  <a:lnTo>
                    <a:pt x="1808364" y="1636237"/>
                  </a:lnTo>
                  <a:lnTo>
                    <a:pt x="1737359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19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176382" y="2623578"/>
            <a:ext cx="67564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 marR="5080" indent="-33655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A2015"/>
                </a:solidFill>
                <a:latin typeface="Calibri"/>
                <a:cs typeface="Calibri"/>
              </a:rPr>
              <a:t>BASELINE MODELS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1481" y="3996347"/>
            <a:ext cx="2112010" cy="1745614"/>
            <a:chOff x="681481" y="3996347"/>
            <a:chExt cx="2112010" cy="1745614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481" y="3996347"/>
              <a:ext cx="2111400" cy="174529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3116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80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0" y="1371600"/>
                  </a:lnTo>
                  <a:lnTo>
                    <a:pt x="2321" y="1407145"/>
                  </a:lnTo>
                  <a:lnTo>
                    <a:pt x="2345" y="1407506"/>
                  </a:lnTo>
                  <a:lnTo>
                    <a:pt x="9242" y="1442245"/>
                  </a:lnTo>
                  <a:lnTo>
                    <a:pt x="9313" y="1442604"/>
                  </a:lnTo>
                  <a:lnTo>
                    <a:pt x="20681" y="1476128"/>
                  </a:lnTo>
                  <a:lnTo>
                    <a:pt x="20804" y="1476489"/>
                  </a:lnTo>
                  <a:lnTo>
                    <a:pt x="36715" y="1508760"/>
                  </a:lnTo>
                  <a:lnTo>
                    <a:pt x="80317" y="1565590"/>
                  </a:lnTo>
                  <a:lnTo>
                    <a:pt x="137159" y="1609191"/>
                  </a:lnTo>
                  <a:lnTo>
                    <a:pt x="203306" y="1636604"/>
                  </a:lnTo>
                  <a:lnTo>
                    <a:pt x="274319" y="1645920"/>
                  </a:lnTo>
                  <a:lnTo>
                    <a:pt x="1737360" y="1645551"/>
                  </a:lnTo>
                  <a:lnTo>
                    <a:pt x="1808364" y="1636237"/>
                  </a:lnTo>
                  <a:lnTo>
                    <a:pt x="1874520" y="1608836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311" y="274320"/>
                  </a:lnTo>
                  <a:lnTo>
                    <a:pt x="2001997" y="203306"/>
                  </a:lnTo>
                  <a:lnTo>
                    <a:pt x="1974595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3116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80" h="1645920">
                  <a:moveTo>
                    <a:pt x="0" y="274320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5" y="137160"/>
                  </a:lnTo>
                  <a:lnTo>
                    <a:pt x="2001997" y="203306"/>
                  </a:lnTo>
                  <a:lnTo>
                    <a:pt x="2011311" y="274320"/>
                  </a:lnTo>
                  <a:lnTo>
                    <a:pt x="2011680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20" y="1608836"/>
                  </a:lnTo>
                  <a:lnTo>
                    <a:pt x="1808364" y="1636237"/>
                  </a:lnTo>
                  <a:lnTo>
                    <a:pt x="1737360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20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077023" y="4635258"/>
            <a:ext cx="132143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635" marR="5080" indent="-36957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0A2015"/>
                </a:solidFill>
                <a:latin typeface="Calibri"/>
                <a:cs typeface="Calibri"/>
              </a:rPr>
              <a:t>HYPERPARAMETER </a:t>
            </a:r>
            <a:r>
              <a:rPr dirty="0" sz="1300" spc="-10" b="1">
                <a:solidFill>
                  <a:srgbClr val="0A2015"/>
                </a:solidFill>
                <a:latin typeface="Calibri"/>
                <a:cs typeface="Calibri"/>
              </a:rPr>
              <a:t>TUNING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876042" y="3996347"/>
            <a:ext cx="2112010" cy="1745614"/>
            <a:chOff x="2876042" y="3996347"/>
            <a:chExt cx="2112010" cy="1745614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6042" y="3996347"/>
              <a:ext cx="2111400" cy="174529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92572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0" y="1371600"/>
                  </a:lnTo>
                  <a:lnTo>
                    <a:pt x="2321" y="1407145"/>
                  </a:lnTo>
                  <a:lnTo>
                    <a:pt x="2345" y="1407506"/>
                  </a:lnTo>
                  <a:lnTo>
                    <a:pt x="9242" y="1442245"/>
                  </a:lnTo>
                  <a:lnTo>
                    <a:pt x="9313" y="1442604"/>
                  </a:lnTo>
                  <a:lnTo>
                    <a:pt x="20681" y="1476128"/>
                  </a:lnTo>
                  <a:lnTo>
                    <a:pt x="20804" y="1476489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19" y="1645920"/>
                  </a:lnTo>
                  <a:lnTo>
                    <a:pt x="1737360" y="1645551"/>
                  </a:lnTo>
                  <a:lnTo>
                    <a:pt x="1808364" y="1636237"/>
                  </a:lnTo>
                  <a:lnTo>
                    <a:pt x="1874519" y="1608836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20"/>
                  </a:lnTo>
                  <a:lnTo>
                    <a:pt x="2001997" y="203306"/>
                  </a:lnTo>
                  <a:lnTo>
                    <a:pt x="1974595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92572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20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5" y="137160"/>
                  </a:lnTo>
                  <a:lnTo>
                    <a:pt x="2001997" y="203306"/>
                  </a:lnTo>
                  <a:lnTo>
                    <a:pt x="2011311" y="274320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19" y="1608836"/>
                  </a:lnTo>
                  <a:lnTo>
                    <a:pt x="1808364" y="1636237"/>
                  </a:lnTo>
                  <a:lnTo>
                    <a:pt x="1737360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20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3485057" y="4635258"/>
            <a:ext cx="89535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8435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0A2015"/>
                </a:solidFill>
                <a:latin typeface="Calibri"/>
                <a:cs typeface="Calibri"/>
              </a:rPr>
              <a:t>MODEL </a:t>
            </a:r>
            <a:r>
              <a:rPr dirty="0" sz="1300" spc="-35" b="1">
                <a:solidFill>
                  <a:srgbClr val="0A2015"/>
                </a:solidFill>
                <a:latin typeface="Calibri"/>
                <a:cs typeface="Calibri"/>
              </a:rPr>
              <a:t>EVALUATION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70602" y="3996347"/>
            <a:ext cx="2112010" cy="1745614"/>
            <a:chOff x="5070602" y="3996347"/>
            <a:chExt cx="2112010" cy="1745614"/>
          </a:xfrm>
        </p:grpSpPr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0602" y="3996347"/>
              <a:ext cx="2111400" cy="174529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12028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0" y="1371600"/>
                  </a:lnTo>
                  <a:lnTo>
                    <a:pt x="2321" y="1407145"/>
                  </a:lnTo>
                  <a:lnTo>
                    <a:pt x="2345" y="1407506"/>
                  </a:lnTo>
                  <a:lnTo>
                    <a:pt x="9242" y="1442245"/>
                  </a:lnTo>
                  <a:lnTo>
                    <a:pt x="9313" y="1442604"/>
                  </a:lnTo>
                  <a:lnTo>
                    <a:pt x="20681" y="1476128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19" y="1645920"/>
                  </a:lnTo>
                  <a:lnTo>
                    <a:pt x="1737359" y="1645551"/>
                  </a:lnTo>
                  <a:lnTo>
                    <a:pt x="1808364" y="1636237"/>
                  </a:lnTo>
                  <a:lnTo>
                    <a:pt x="1874520" y="1608836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20"/>
                  </a:lnTo>
                  <a:lnTo>
                    <a:pt x="2001997" y="203306"/>
                  </a:lnTo>
                  <a:lnTo>
                    <a:pt x="1974596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1ED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12028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20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6" y="137160"/>
                  </a:lnTo>
                  <a:lnTo>
                    <a:pt x="2001997" y="203306"/>
                  </a:lnTo>
                  <a:lnTo>
                    <a:pt x="2011311" y="274320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20" y="1608836"/>
                  </a:lnTo>
                  <a:lnTo>
                    <a:pt x="1808364" y="1636237"/>
                  </a:lnTo>
                  <a:lnTo>
                    <a:pt x="1737359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20"/>
                  </a:lnTo>
                  <a:close/>
                </a:path>
              </a:pathLst>
            </a:custGeom>
            <a:ln w="19079">
              <a:solidFill>
                <a:srgbClr val="9DC1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5638939" y="4635258"/>
            <a:ext cx="97536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9075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A2015"/>
                </a:solidFill>
                <a:latin typeface="Calibri"/>
                <a:cs typeface="Calibri"/>
              </a:rPr>
              <a:t>MODEL </a:t>
            </a:r>
            <a:r>
              <a:rPr dirty="0" sz="1300" spc="-25" b="1">
                <a:solidFill>
                  <a:srgbClr val="0A2015"/>
                </a:solidFill>
                <a:latin typeface="Calibri"/>
                <a:cs typeface="Calibri"/>
              </a:rPr>
              <a:t>COMPARISON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265161" y="3996347"/>
            <a:ext cx="2112010" cy="1745614"/>
            <a:chOff x="7265161" y="3996347"/>
            <a:chExt cx="2112010" cy="1745614"/>
          </a:xfrm>
        </p:grpSpPr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5161" y="3996347"/>
              <a:ext cx="2111400" cy="174529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31484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20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0" y="1371600"/>
                  </a:lnTo>
                  <a:lnTo>
                    <a:pt x="9242" y="1442245"/>
                  </a:lnTo>
                  <a:lnTo>
                    <a:pt x="20681" y="1476128"/>
                  </a:lnTo>
                  <a:lnTo>
                    <a:pt x="20804" y="1476489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20" y="1645920"/>
                  </a:lnTo>
                  <a:lnTo>
                    <a:pt x="1737360" y="1645551"/>
                  </a:lnTo>
                  <a:lnTo>
                    <a:pt x="1808364" y="1636237"/>
                  </a:lnTo>
                  <a:lnTo>
                    <a:pt x="1874520" y="1608836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20"/>
                  </a:lnTo>
                  <a:lnTo>
                    <a:pt x="2001997" y="203306"/>
                  </a:lnTo>
                  <a:lnTo>
                    <a:pt x="1974596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31484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20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60" y="36715"/>
                  </a:lnTo>
                  <a:lnTo>
                    <a:pt x="203306" y="9313"/>
                  </a:lnTo>
                  <a:lnTo>
                    <a:pt x="274320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6" y="137160"/>
                  </a:lnTo>
                  <a:lnTo>
                    <a:pt x="2001997" y="203306"/>
                  </a:lnTo>
                  <a:lnTo>
                    <a:pt x="2011311" y="274320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20" y="1608836"/>
                  </a:lnTo>
                  <a:lnTo>
                    <a:pt x="1808364" y="1636237"/>
                  </a:lnTo>
                  <a:lnTo>
                    <a:pt x="1737360" y="1645551"/>
                  </a:lnTo>
                  <a:lnTo>
                    <a:pt x="274320" y="1645920"/>
                  </a:lnTo>
                  <a:lnTo>
                    <a:pt x="203306" y="1636604"/>
                  </a:lnTo>
                  <a:lnTo>
                    <a:pt x="137160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20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7870215" y="4635258"/>
            <a:ext cx="899794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645" marR="5080" indent="-6858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56433"/>
                </a:solidFill>
                <a:latin typeface="Calibri"/>
                <a:cs typeface="Calibri"/>
              </a:rPr>
              <a:t>BEST</a:t>
            </a:r>
            <a:r>
              <a:rPr dirty="0" sz="1300" spc="-4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MODEL SELECTION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459721" y="3996347"/>
            <a:ext cx="2112010" cy="1745614"/>
            <a:chOff x="9459721" y="3996347"/>
            <a:chExt cx="2112010" cy="1745614"/>
          </a:xfrm>
        </p:grpSpPr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59721" y="3996347"/>
              <a:ext cx="2111400" cy="174529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950940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1736991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0" y="1371600"/>
                  </a:lnTo>
                  <a:lnTo>
                    <a:pt x="9242" y="1442245"/>
                  </a:lnTo>
                  <a:lnTo>
                    <a:pt x="20681" y="1476128"/>
                  </a:lnTo>
                  <a:lnTo>
                    <a:pt x="20804" y="1476489"/>
                  </a:lnTo>
                  <a:lnTo>
                    <a:pt x="56710" y="1538677"/>
                  </a:lnTo>
                  <a:lnTo>
                    <a:pt x="107235" y="1589196"/>
                  </a:lnTo>
                  <a:lnTo>
                    <a:pt x="169422" y="1625110"/>
                  </a:lnTo>
                  <a:lnTo>
                    <a:pt x="238406" y="1643574"/>
                  </a:lnTo>
                  <a:lnTo>
                    <a:pt x="274319" y="1645920"/>
                  </a:lnTo>
                  <a:lnTo>
                    <a:pt x="1737359" y="1645551"/>
                  </a:lnTo>
                  <a:lnTo>
                    <a:pt x="1808364" y="1636237"/>
                  </a:lnTo>
                  <a:lnTo>
                    <a:pt x="1874519" y="1608836"/>
                  </a:lnTo>
                  <a:lnTo>
                    <a:pt x="1931350" y="1565228"/>
                  </a:lnTo>
                  <a:lnTo>
                    <a:pt x="1974951" y="1508391"/>
                  </a:lnTo>
                  <a:lnTo>
                    <a:pt x="2002242" y="1442604"/>
                  </a:lnTo>
                  <a:lnTo>
                    <a:pt x="2002364" y="1442245"/>
                  </a:lnTo>
                  <a:lnTo>
                    <a:pt x="2009262" y="1407506"/>
                  </a:lnTo>
                  <a:lnTo>
                    <a:pt x="2009334" y="1407145"/>
                  </a:lnTo>
                  <a:lnTo>
                    <a:pt x="2011655" y="1371600"/>
                  </a:lnTo>
                  <a:lnTo>
                    <a:pt x="2011679" y="1371231"/>
                  </a:lnTo>
                  <a:lnTo>
                    <a:pt x="2011311" y="274320"/>
                  </a:lnTo>
                  <a:lnTo>
                    <a:pt x="2001997" y="203306"/>
                  </a:lnTo>
                  <a:lnTo>
                    <a:pt x="1974595" y="137160"/>
                  </a:lnTo>
                  <a:lnTo>
                    <a:pt x="1930988" y="80317"/>
                  </a:lnTo>
                  <a:lnTo>
                    <a:pt x="1874151" y="36715"/>
                  </a:lnTo>
                  <a:lnTo>
                    <a:pt x="1808005" y="9313"/>
                  </a:lnTo>
                  <a:lnTo>
                    <a:pt x="1772905" y="2345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FF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509404" y="4023004"/>
              <a:ext cx="2011680" cy="1645920"/>
            </a:xfrm>
            <a:custGeom>
              <a:avLst/>
              <a:gdLst/>
              <a:ahLst/>
              <a:cxnLst/>
              <a:rect l="l" t="t" r="r" b="b"/>
              <a:pathLst>
                <a:path w="2011679" h="1645920">
                  <a:moveTo>
                    <a:pt x="0" y="274320"/>
                  </a:moveTo>
                  <a:lnTo>
                    <a:pt x="2345" y="238406"/>
                  </a:lnTo>
                  <a:lnTo>
                    <a:pt x="9313" y="203306"/>
                  </a:lnTo>
                  <a:lnTo>
                    <a:pt x="36715" y="137160"/>
                  </a:lnTo>
                  <a:lnTo>
                    <a:pt x="80317" y="80317"/>
                  </a:lnTo>
                  <a:lnTo>
                    <a:pt x="137159" y="36715"/>
                  </a:lnTo>
                  <a:lnTo>
                    <a:pt x="203306" y="9313"/>
                  </a:lnTo>
                  <a:lnTo>
                    <a:pt x="274319" y="0"/>
                  </a:lnTo>
                  <a:lnTo>
                    <a:pt x="1736991" y="0"/>
                  </a:lnTo>
                  <a:lnTo>
                    <a:pt x="1808005" y="9313"/>
                  </a:lnTo>
                  <a:lnTo>
                    <a:pt x="1874151" y="36715"/>
                  </a:lnTo>
                  <a:lnTo>
                    <a:pt x="1930988" y="80317"/>
                  </a:lnTo>
                  <a:lnTo>
                    <a:pt x="1974595" y="137160"/>
                  </a:lnTo>
                  <a:lnTo>
                    <a:pt x="2001997" y="203306"/>
                  </a:lnTo>
                  <a:lnTo>
                    <a:pt x="2011311" y="274320"/>
                  </a:lnTo>
                  <a:lnTo>
                    <a:pt x="2011679" y="1371231"/>
                  </a:lnTo>
                  <a:lnTo>
                    <a:pt x="2009334" y="1407145"/>
                  </a:lnTo>
                  <a:lnTo>
                    <a:pt x="2002364" y="1442245"/>
                  </a:lnTo>
                  <a:lnTo>
                    <a:pt x="1974951" y="1508391"/>
                  </a:lnTo>
                  <a:lnTo>
                    <a:pt x="1931350" y="1565228"/>
                  </a:lnTo>
                  <a:lnTo>
                    <a:pt x="1874519" y="1608836"/>
                  </a:lnTo>
                  <a:lnTo>
                    <a:pt x="1808364" y="1636237"/>
                  </a:lnTo>
                  <a:lnTo>
                    <a:pt x="1737359" y="1645551"/>
                  </a:lnTo>
                  <a:lnTo>
                    <a:pt x="274319" y="1645920"/>
                  </a:lnTo>
                  <a:lnTo>
                    <a:pt x="203306" y="1636604"/>
                  </a:lnTo>
                  <a:lnTo>
                    <a:pt x="137159" y="1609191"/>
                  </a:lnTo>
                  <a:lnTo>
                    <a:pt x="80317" y="1565590"/>
                  </a:lnTo>
                  <a:lnTo>
                    <a:pt x="36715" y="1508760"/>
                  </a:lnTo>
                  <a:lnTo>
                    <a:pt x="9313" y="1442604"/>
                  </a:lnTo>
                  <a:lnTo>
                    <a:pt x="0" y="1371600"/>
                  </a:lnTo>
                  <a:lnTo>
                    <a:pt x="0" y="274320"/>
                  </a:lnTo>
                  <a:close/>
                </a:path>
              </a:pathLst>
            </a:custGeom>
            <a:ln w="19079">
              <a:solidFill>
                <a:srgbClr val="1564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0241178" y="4635258"/>
            <a:ext cx="5480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56433"/>
                </a:solidFill>
                <a:latin typeface="Calibri"/>
                <a:cs typeface="Calibri"/>
              </a:rPr>
              <a:t>MODEL </a:t>
            </a:r>
            <a:r>
              <a:rPr dirty="0" sz="1300" spc="-30" b="1">
                <a:solidFill>
                  <a:srgbClr val="156433"/>
                </a:solidFill>
                <a:latin typeface="Calibri"/>
                <a:cs typeface="Calibri"/>
              </a:rPr>
              <a:t>SAVING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55"/>
            <a:ext cx="12192000" cy="6858000"/>
            <a:chOff x="-355" y="-355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2191390" cy="68576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355" y="-355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390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873" y="6857631"/>
                  </a:lnTo>
                  <a:lnTo>
                    <a:pt x="12191390" y="6857631"/>
                  </a:lnTo>
                  <a:lnTo>
                    <a:pt x="12191390" y="0"/>
                  </a:lnTo>
                  <a:close/>
                </a:path>
              </a:pathLst>
            </a:custGeom>
            <a:solidFill>
              <a:srgbClr val="CCD9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174584" y="1677504"/>
            <a:ext cx="2731770" cy="1428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600"/>
              <a:t>Thank</a:t>
            </a:r>
            <a:r>
              <a:rPr dirty="0" sz="4600" spc="-25"/>
              <a:t> </a:t>
            </a:r>
            <a:r>
              <a:rPr dirty="0" sz="4600" spc="-70"/>
              <a:t>You! </a:t>
            </a:r>
            <a:r>
              <a:rPr dirty="0" sz="4600" spc="-20"/>
              <a:t>Questions?</a:t>
            </a:r>
            <a:endParaRPr sz="4600"/>
          </a:p>
        </p:txBody>
      </p:sp>
      <p:sp>
        <p:nvSpPr>
          <p:cNvPr id="6" name="object 6"/>
          <p:cNvSpPr txBox="1"/>
          <p:nvPr/>
        </p:nvSpPr>
        <p:spPr>
          <a:xfrm>
            <a:off x="1174584" y="3445471"/>
            <a:ext cx="4857750" cy="1304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56433"/>
                </a:solidFill>
                <a:latin typeface="Calibri"/>
                <a:cs typeface="Calibri"/>
              </a:rPr>
              <a:t>LOAN</a:t>
            </a:r>
            <a:r>
              <a:rPr dirty="0" sz="2400" spc="-10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156433"/>
                </a:solidFill>
                <a:latin typeface="Calibri"/>
                <a:cs typeface="Calibri"/>
              </a:rPr>
              <a:t>APPROVAL</a:t>
            </a:r>
            <a:r>
              <a:rPr dirty="0" sz="2400" spc="-9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56433"/>
                </a:solidFill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1914"/>
              </a:lnSpc>
            </a:pPr>
            <a:r>
              <a:rPr dirty="0" sz="1600">
                <a:solidFill>
                  <a:srgbClr val="375746"/>
                </a:solidFill>
                <a:latin typeface="Calibri"/>
                <a:cs typeface="Calibri"/>
              </a:rPr>
              <a:t>NTI</a:t>
            </a:r>
            <a:r>
              <a:rPr dirty="0" sz="1600" spc="-30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375746"/>
                </a:solidFill>
                <a:latin typeface="Calibri"/>
                <a:cs typeface="Calibri"/>
              </a:rPr>
              <a:t>MACHINE</a:t>
            </a:r>
            <a:r>
              <a:rPr dirty="0" sz="1600" spc="-35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375746"/>
                </a:solidFill>
                <a:latin typeface="Calibri"/>
                <a:cs typeface="Calibri"/>
              </a:rPr>
              <a:t>LEARNING</a:t>
            </a:r>
            <a:r>
              <a:rPr dirty="0" sz="1600" spc="-40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375746"/>
                </a:solidFill>
                <a:latin typeface="Calibri"/>
                <a:cs typeface="Calibri"/>
              </a:rPr>
              <a:t>PROJECT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4"/>
              </a:lnSpc>
            </a:pPr>
            <a:r>
              <a:rPr dirty="0" sz="1600" spc="-10">
                <a:solidFill>
                  <a:srgbClr val="375746"/>
                </a:solidFill>
                <a:latin typeface="Calibri"/>
                <a:cs typeface="Calibri"/>
              </a:rPr>
              <a:t>Lendora:</a:t>
            </a:r>
            <a:r>
              <a:rPr dirty="0" sz="1600" spc="-35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375746"/>
                </a:solidFill>
                <a:latin typeface="Calibri"/>
                <a:cs typeface="Calibri"/>
              </a:rPr>
              <a:t>Smarter</a:t>
            </a:r>
            <a:r>
              <a:rPr dirty="0" sz="1600" spc="-35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375746"/>
                </a:solidFill>
                <a:latin typeface="Calibri"/>
                <a:cs typeface="Calibri"/>
              </a:rPr>
              <a:t>Lending.</a:t>
            </a:r>
            <a:r>
              <a:rPr dirty="0" sz="1600" spc="-35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375746"/>
                </a:solidFill>
                <a:latin typeface="Calibri"/>
                <a:cs typeface="Calibri"/>
              </a:rPr>
              <a:t>Better</a:t>
            </a:r>
            <a:r>
              <a:rPr dirty="0" sz="1600" spc="-35">
                <a:solidFill>
                  <a:srgbClr val="375746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375746"/>
                </a:solidFill>
                <a:latin typeface="Calibri"/>
                <a:cs typeface="Calibri"/>
              </a:rPr>
              <a:t>Decisions.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1400" b="1">
                <a:solidFill>
                  <a:srgbClr val="156433"/>
                </a:solidFill>
                <a:latin typeface="Calibri"/>
                <a:cs typeface="Calibri"/>
              </a:rPr>
              <a:t>Project</a:t>
            </a:r>
            <a:r>
              <a:rPr dirty="0" sz="1400" spc="-6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56433"/>
                </a:solidFill>
                <a:latin typeface="Calibri"/>
                <a:cs typeface="Calibri"/>
              </a:rPr>
              <a:t>Repository:</a:t>
            </a:r>
            <a:r>
              <a:rPr dirty="0" sz="1400" spc="-70" b="1">
                <a:solidFill>
                  <a:srgbClr val="15643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56433"/>
                </a:solidFill>
                <a:latin typeface="Calibri"/>
                <a:cs typeface="Calibri"/>
                <a:hlinkClick r:id="rId3"/>
              </a:rPr>
              <a:t>https://github.com/ahmedqataria99/Lendora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64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2026-09-02T23:55:37Z</dcterms:created>
  <dcterms:modified xsi:type="dcterms:W3CDTF">2026-09-02T23:55:37Z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2026-09-02T00:00:00Z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7.3</vt:lpwstr>
  </property>
  <property fmtid="{D5CDD505-2E9C-101B-9397-08002B2CF9AE}" pid="6" name="LastSaved">
    <vt:filetime>2026-09-02T00:00:00Z</vt:filetime>
  </property>
</Properties>
</file>